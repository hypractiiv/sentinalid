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80C"/>
    <a:srgbClr val="0070C0"/>
    <a:srgbClr val="2563EB"/>
    <a:srgbClr val="FFFFFF"/>
    <a:srgbClr val="632523"/>
    <a:srgbClr val="4F81BD"/>
    <a:srgbClr val="39B0D4"/>
    <a:srgbClr val="727272"/>
    <a:srgbClr val="5A96D8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62F0E-45E2-4A20-A334-29B97076B52D}" v="1580" dt="2026-09-06T17:58:10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24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365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B7677C-98C3-471B-A5AA-60501B52CDF7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E76028E7-BC00-4C08-B968-0A25792B364F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b="1"/>
            <a:t>Technologies Used</a:t>
          </a:r>
          <a:endParaRPr lang="en-IN"/>
        </a:p>
      </dgm:t>
    </dgm:pt>
    <dgm:pt modelId="{C1960ABF-1404-4AA8-886E-A2E64A9E39AF}" type="parTrans" cxnId="{E35751DC-3F72-48C4-BB86-F001C26A4445}">
      <dgm:prSet/>
      <dgm:spPr/>
      <dgm:t>
        <a:bodyPr/>
        <a:lstStyle/>
        <a:p>
          <a:endParaRPr lang="en-IN"/>
        </a:p>
      </dgm:t>
    </dgm:pt>
    <dgm:pt modelId="{A38BA978-8613-46F3-AFFF-5A3A2B2B1D96}" type="sibTrans" cxnId="{E35751DC-3F72-48C4-BB86-F001C26A4445}">
      <dgm:prSet/>
      <dgm:spPr/>
      <dgm:t>
        <a:bodyPr/>
        <a:lstStyle/>
        <a:p>
          <a:endParaRPr lang="en-IN"/>
        </a:p>
      </dgm:t>
    </dgm:pt>
    <dgm:pt modelId="{05854726-0920-4B80-82B9-781982E89843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React</a:t>
          </a:r>
          <a:r>
            <a:rPr lang="en-IN" dirty="0"/>
            <a:t> – Used for the </a:t>
          </a:r>
          <a:r>
            <a:rPr lang="en-IN" b="1" dirty="0"/>
            <a:t>production-level kiosk interface. </a:t>
          </a:r>
        </a:p>
      </dgm:t>
    </dgm:pt>
    <dgm:pt modelId="{A330605C-0F1F-4C08-BC6E-4042A54E866C}" type="parTrans" cxnId="{00D4180B-8B9B-40F7-AAD0-8F2EAE28EF16}">
      <dgm:prSet/>
      <dgm:spPr/>
      <dgm:t>
        <a:bodyPr/>
        <a:lstStyle/>
        <a:p>
          <a:endParaRPr lang="en-IN"/>
        </a:p>
      </dgm:t>
    </dgm:pt>
    <dgm:pt modelId="{2FB8406B-ECA3-4021-9998-2BC7BCFC544D}" type="sibTrans" cxnId="{00D4180B-8B9B-40F7-AAD0-8F2EAE28EF16}">
      <dgm:prSet/>
      <dgm:spPr/>
      <dgm:t>
        <a:bodyPr/>
        <a:lstStyle/>
        <a:p>
          <a:endParaRPr lang="en-IN"/>
        </a:p>
      </dgm:t>
    </dgm:pt>
    <dgm:pt modelId="{27B79E68-5A57-4733-9AF2-19788821CC86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FastAPI</a:t>
          </a:r>
          <a:r>
            <a:rPr lang="en-IN" dirty="0"/>
            <a:t> – Backend framework for </a:t>
          </a:r>
          <a:r>
            <a:rPr lang="en-IN" b="1" dirty="0"/>
            <a:t>handling API requests</a:t>
          </a:r>
          <a:r>
            <a:rPr lang="en-IN" dirty="0"/>
            <a:t> and coordinating verification processes. </a:t>
          </a:r>
        </a:p>
      </dgm:t>
    </dgm:pt>
    <dgm:pt modelId="{20350D57-92CF-4533-97F4-A75A2D62434C}" type="parTrans" cxnId="{727D7DA0-9481-4556-A8EA-E3F8D40C7037}">
      <dgm:prSet/>
      <dgm:spPr/>
      <dgm:t>
        <a:bodyPr/>
        <a:lstStyle/>
        <a:p>
          <a:endParaRPr lang="en-IN"/>
        </a:p>
      </dgm:t>
    </dgm:pt>
    <dgm:pt modelId="{8E34F9FC-7F1A-43E7-A4AC-09FC254B0C7A}" type="sibTrans" cxnId="{727D7DA0-9481-4556-A8EA-E3F8D40C7037}">
      <dgm:prSet/>
      <dgm:spPr/>
      <dgm:t>
        <a:bodyPr/>
        <a:lstStyle/>
        <a:p>
          <a:endParaRPr lang="en-IN"/>
        </a:p>
      </dgm:t>
    </dgm:pt>
    <dgm:pt modelId="{D42284AB-6A59-499D-BF76-480280554D6C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PassportEye</a:t>
          </a:r>
          <a:r>
            <a:rPr lang="en-IN" dirty="0"/>
            <a:t> – Extracts and parses </a:t>
          </a:r>
          <a:r>
            <a:rPr lang="en-IN" b="1" dirty="0"/>
            <a:t>passport MRZ information. </a:t>
          </a:r>
        </a:p>
      </dgm:t>
    </dgm:pt>
    <dgm:pt modelId="{B070092D-4FA8-45AF-9CC8-024D013D5C9E}" type="parTrans" cxnId="{52D1BD90-34A3-4BAE-99E8-E992BC896C39}">
      <dgm:prSet/>
      <dgm:spPr/>
      <dgm:t>
        <a:bodyPr/>
        <a:lstStyle/>
        <a:p>
          <a:endParaRPr lang="en-IN"/>
        </a:p>
      </dgm:t>
    </dgm:pt>
    <dgm:pt modelId="{5E75359D-7E00-45C2-875F-706EA39B9BAF}" type="sibTrans" cxnId="{52D1BD90-34A3-4BAE-99E8-E992BC896C39}">
      <dgm:prSet/>
      <dgm:spPr/>
      <dgm:t>
        <a:bodyPr/>
        <a:lstStyle/>
        <a:p>
          <a:endParaRPr lang="en-IN"/>
        </a:p>
      </dgm:t>
    </dgm:pt>
    <dgm:pt modelId="{DA7F3E12-21B8-4A66-80BF-4FA83343B6A6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PyTesseract</a:t>
          </a:r>
          <a:r>
            <a:rPr lang="en-IN" dirty="0"/>
            <a:t> – </a:t>
          </a:r>
          <a:r>
            <a:rPr lang="en-IN" b="1" dirty="0"/>
            <a:t>Performs OCR </a:t>
          </a:r>
          <a:r>
            <a:rPr lang="en-IN" dirty="0"/>
            <a:t>to extract text from documents. </a:t>
          </a:r>
        </a:p>
      </dgm:t>
    </dgm:pt>
    <dgm:pt modelId="{0B3C39B2-10B3-402E-B938-80EE6EEA419C}" type="parTrans" cxnId="{6F3B7157-93D3-48B0-B2E6-741002B19A39}">
      <dgm:prSet/>
      <dgm:spPr/>
      <dgm:t>
        <a:bodyPr/>
        <a:lstStyle/>
        <a:p>
          <a:endParaRPr lang="en-IN"/>
        </a:p>
      </dgm:t>
    </dgm:pt>
    <dgm:pt modelId="{7F09D05F-7944-4B3C-B868-56DCDD378417}" type="sibTrans" cxnId="{6F3B7157-93D3-48B0-B2E6-741002B19A39}">
      <dgm:prSet/>
      <dgm:spPr/>
      <dgm:t>
        <a:bodyPr/>
        <a:lstStyle/>
        <a:p>
          <a:endParaRPr lang="en-IN"/>
        </a:p>
      </dgm:t>
    </dgm:pt>
    <dgm:pt modelId="{B2AF49C6-7197-462F-9117-67A34B44F999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MobileNetV2</a:t>
          </a:r>
          <a:r>
            <a:rPr lang="en-IN" dirty="0"/>
            <a:t> – </a:t>
          </a:r>
          <a:r>
            <a:rPr lang="en-IN" b="1" dirty="0"/>
            <a:t>Lightweight CNN </a:t>
          </a:r>
          <a:r>
            <a:rPr lang="en-IN" dirty="0"/>
            <a:t>used for image classification and tamper analysis. </a:t>
          </a:r>
        </a:p>
      </dgm:t>
    </dgm:pt>
    <dgm:pt modelId="{3E799A53-570C-4491-8A11-3F52ACBA4E90}" type="parTrans" cxnId="{5745ACB7-4E4E-4106-BA0F-1BFEE4E166C1}">
      <dgm:prSet/>
      <dgm:spPr/>
      <dgm:t>
        <a:bodyPr/>
        <a:lstStyle/>
        <a:p>
          <a:endParaRPr lang="en-IN"/>
        </a:p>
      </dgm:t>
    </dgm:pt>
    <dgm:pt modelId="{346C711F-606C-4DA0-BF57-9A6888303422}" type="sibTrans" cxnId="{5745ACB7-4E4E-4106-BA0F-1BFEE4E166C1}">
      <dgm:prSet/>
      <dgm:spPr/>
      <dgm:t>
        <a:bodyPr/>
        <a:lstStyle/>
        <a:p>
          <a:endParaRPr lang="en-IN"/>
        </a:p>
      </dgm:t>
    </dgm:pt>
    <dgm:pt modelId="{46B86CAD-16BE-48E0-B245-3439330B4DD9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Anti-Spoofing CNN</a:t>
          </a:r>
          <a:r>
            <a:rPr lang="en-IN" dirty="0">
              <a:solidFill>
                <a:srgbClr val="0070C0"/>
              </a:solidFill>
            </a:rPr>
            <a:t> </a:t>
          </a:r>
          <a:r>
            <a:rPr lang="en-IN" dirty="0"/>
            <a:t>– Performs </a:t>
          </a:r>
          <a:r>
            <a:rPr lang="en-IN" b="1" dirty="0"/>
            <a:t>face liveness detection </a:t>
          </a:r>
          <a:r>
            <a:rPr lang="en-IN" dirty="0"/>
            <a:t>to identify real users vs. presentation attacks. </a:t>
          </a:r>
        </a:p>
      </dgm:t>
    </dgm:pt>
    <dgm:pt modelId="{0752C654-B9EB-43A6-B4A5-1DD041524889}" type="parTrans" cxnId="{4411A3FA-710E-43AC-83FC-07E1868F5FFB}">
      <dgm:prSet/>
      <dgm:spPr/>
      <dgm:t>
        <a:bodyPr/>
        <a:lstStyle/>
        <a:p>
          <a:endParaRPr lang="en-IN"/>
        </a:p>
      </dgm:t>
    </dgm:pt>
    <dgm:pt modelId="{2478B6D8-5B5C-44AE-89C0-6B9A0631FC91}" type="sibTrans" cxnId="{4411A3FA-710E-43AC-83FC-07E1868F5FFB}">
      <dgm:prSet/>
      <dgm:spPr/>
      <dgm:t>
        <a:bodyPr/>
        <a:lstStyle/>
        <a:p>
          <a:endParaRPr lang="en-IN"/>
        </a:p>
      </dgm:t>
    </dgm:pt>
    <dgm:pt modelId="{FCC1274C-3D05-484C-9436-E993FF3E9F4B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DeepFace</a:t>
          </a:r>
          <a:r>
            <a:rPr lang="en-IN" dirty="0"/>
            <a:t> – Framework used </a:t>
          </a:r>
          <a:r>
            <a:rPr lang="en-IN" b="1" dirty="0"/>
            <a:t>for face analysis and verification</a:t>
          </a:r>
          <a:r>
            <a:rPr lang="en-IN" b="0" dirty="0"/>
            <a:t>. </a:t>
          </a:r>
        </a:p>
      </dgm:t>
    </dgm:pt>
    <dgm:pt modelId="{58635E8E-527C-4EC6-9740-B7CCDC2D6B19}" type="parTrans" cxnId="{852F5584-3B07-407A-8314-B03C7FEB3C87}">
      <dgm:prSet/>
      <dgm:spPr/>
      <dgm:t>
        <a:bodyPr/>
        <a:lstStyle/>
        <a:p>
          <a:endParaRPr lang="en-IN"/>
        </a:p>
      </dgm:t>
    </dgm:pt>
    <dgm:pt modelId="{2C3B7A84-460C-411F-B7F6-8B370F507E31}" type="sibTrans" cxnId="{852F5584-3B07-407A-8314-B03C7FEB3C87}">
      <dgm:prSet/>
      <dgm:spPr/>
      <dgm:t>
        <a:bodyPr/>
        <a:lstStyle/>
        <a:p>
          <a:endParaRPr lang="en-IN"/>
        </a:p>
      </dgm:t>
    </dgm:pt>
    <dgm:pt modelId="{5C8FFBB1-D6A2-464C-8A61-4AC827AFD7D4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ArcFace</a:t>
          </a:r>
          <a:r>
            <a:rPr lang="en-IN" dirty="0"/>
            <a:t> – Generates </a:t>
          </a:r>
          <a:r>
            <a:rPr lang="en-IN" b="1" dirty="0"/>
            <a:t>face embeddings </a:t>
          </a:r>
          <a:r>
            <a:rPr lang="en-IN" dirty="0"/>
            <a:t>and performs face matching. </a:t>
          </a:r>
        </a:p>
      </dgm:t>
    </dgm:pt>
    <dgm:pt modelId="{59A97EB5-943A-46F2-B1BA-FEE3955FAE7D}" type="parTrans" cxnId="{D51CAD71-5470-47ED-B89E-0CE0A4AC8642}">
      <dgm:prSet/>
      <dgm:spPr/>
      <dgm:t>
        <a:bodyPr/>
        <a:lstStyle/>
        <a:p>
          <a:endParaRPr lang="en-IN"/>
        </a:p>
      </dgm:t>
    </dgm:pt>
    <dgm:pt modelId="{20020E5A-BCDC-4277-881C-C4312B11FA6C}" type="sibTrans" cxnId="{D51CAD71-5470-47ED-B89E-0CE0A4AC8642}">
      <dgm:prSet/>
      <dgm:spPr/>
      <dgm:t>
        <a:bodyPr/>
        <a:lstStyle/>
        <a:p>
          <a:endParaRPr lang="en-IN"/>
        </a:p>
      </dgm:t>
    </dgm:pt>
    <dgm:pt modelId="{74611326-3C21-405A-BB44-45F4F71B97CD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PostgreSQL</a:t>
          </a:r>
          <a:r>
            <a:rPr lang="en-IN" dirty="0"/>
            <a:t> – Stores </a:t>
          </a:r>
          <a:r>
            <a:rPr lang="en-IN" b="1" dirty="0"/>
            <a:t>verification results and audit logs. </a:t>
          </a:r>
        </a:p>
      </dgm:t>
    </dgm:pt>
    <dgm:pt modelId="{80D83BB4-76D4-4754-AA0D-956F97AECCEA}" type="parTrans" cxnId="{5E5F8F6E-F40F-4A5F-A338-C706CC9B2EF9}">
      <dgm:prSet/>
      <dgm:spPr/>
      <dgm:t>
        <a:bodyPr/>
        <a:lstStyle/>
        <a:p>
          <a:endParaRPr lang="en-IN"/>
        </a:p>
      </dgm:t>
    </dgm:pt>
    <dgm:pt modelId="{66151E76-20D7-46EF-812C-E598A0A96489}" type="sibTrans" cxnId="{5E5F8F6E-F40F-4A5F-A338-C706CC9B2EF9}">
      <dgm:prSet/>
      <dgm:spPr/>
      <dgm:t>
        <a:bodyPr/>
        <a:lstStyle/>
        <a:p>
          <a:endParaRPr lang="en-IN"/>
        </a:p>
      </dgm:t>
    </dgm:pt>
    <dgm:pt modelId="{3A0C4A3D-AE19-4876-A83D-87DAD8085E01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Redis</a:t>
          </a:r>
          <a:r>
            <a:rPr lang="en-IN" dirty="0"/>
            <a:t> – Provides fast </a:t>
          </a:r>
          <a:r>
            <a:rPr lang="en-IN" b="1" dirty="0"/>
            <a:t>session and result caching. </a:t>
          </a:r>
        </a:p>
      </dgm:t>
    </dgm:pt>
    <dgm:pt modelId="{C6CB39A6-133D-45C6-8CE3-9921215EC557}" type="parTrans" cxnId="{3D19CE37-84B2-4D71-A3B9-71734DBE929C}">
      <dgm:prSet/>
      <dgm:spPr/>
      <dgm:t>
        <a:bodyPr/>
        <a:lstStyle/>
        <a:p>
          <a:endParaRPr lang="en-IN"/>
        </a:p>
      </dgm:t>
    </dgm:pt>
    <dgm:pt modelId="{646E1177-781A-47F0-A025-F8BADE0D8039}" type="sibTrans" cxnId="{3D19CE37-84B2-4D71-A3B9-71734DBE929C}">
      <dgm:prSet/>
      <dgm:spPr/>
      <dgm:t>
        <a:bodyPr/>
        <a:lstStyle/>
        <a:p>
          <a:endParaRPr lang="en-IN"/>
        </a:p>
      </dgm:t>
    </dgm:pt>
    <dgm:pt modelId="{913727A0-05C4-4BD6-9D23-692DACB842AB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Document Scanner/Webcam</a:t>
          </a:r>
          <a:r>
            <a:rPr lang="en-IN" dirty="0">
              <a:solidFill>
                <a:srgbClr val="0070C0"/>
              </a:solidFill>
            </a:rPr>
            <a:t> </a:t>
          </a:r>
          <a:r>
            <a:rPr lang="en-IN" dirty="0"/>
            <a:t>– Captures </a:t>
          </a:r>
          <a:r>
            <a:rPr lang="en-IN" b="1" dirty="0"/>
            <a:t>identity documents and facial images. </a:t>
          </a:r>
        </a:p>
      </dgm:t>
    </dgm:pt>
    <dgm:pt modelId="{BAEAD127-7BA4-4B1B-8B37-94CCD933A24E}" type="parTrans" cxnId="{B3EE1257-F1E3-4507-8B99-987C655E7FBB}">
      <dgm:prSet/>
      <dgm:spPr/>
      <dgm:t>
        <a:bodyPr/>
        <a:lstStyle/>
        <a:p>
          <a:endParaRPr lang="en-IN"/>
        </a:p>
      </dgm:t>
    </dgm:pt>
    <dgm:pt modelId="{D4EE4F72-3206-4512-B565-504451FCAF37}" type="sibTrans" cxnId="{B3EE1257-F1E3-4507-8B99-987C655E7FBB}">
      <dgm:prSet/>
      <dgm:spPr/>
      <dgm:t>
        <a:bodyPr/>
        <a:lstStyle/>
        <a:p>
          <a:endParaRPr lang="en-IN"/>
        </a:p>
      </dgm:t>
    </dgm:pt>
    <dgm:pt modelId="{826DACCE-86C5-40CA-B717-84E328385068}">
      <dgm:prSet/>
      <dgm:spPr/>
      <dgm:t>
        <a:bodyPr/>
        <a:lstStyle/>
        <a:p>
          <a:r>
            <a:rPr lang="en-IN" b="1" dirty="0">
              <a:solidFill>
                <a:srgbClr val="0070C0"/>
              </a:solidFill>
            </a:rPr>
            <a:t>NUC-class Edge Box</a:t>
          </a:r>
          <a:r>
            <a:rPr lang="en-IN" dirty="0">
              <a:solidFill>
                <a:srgbClr val="0070C0"/>
              </a:solidFill>
            </a:rPr>
            <a:t> </a:t>
          </a:r>
          <a:r>
            <a:rPr lang="en-IN" dirty="0"/>
            <a:t>– </a:t>
          </a:r>
          <a:r>
            <a:rPr lang="en-IN" b="1" dirty="0"/>
            <a:t>Runs OCR</a:t>
          </a:r>
          <a:r>
            <a:rPr lang="en-IN" dirty="0"/>
            <a:t>, tamper detection, and liveness processing locally </a:t>
          </a:r>
          <a:r>
            <a:rPr lang="en-IN" b="1" dirty="0"/>
            <a:t>when connectivity is limited.</a:t>
          </a:r>
        </a:p>
      </dgm:t>
    </dgm:pt>
    <dgm:pt modelId="{662AC11C-34C8-420D-A271-E46606576880}" type="parTrans" cxnId="{3C6B7709-4E9D-4FF0-8C5E-56C8EC99FC4D}">
      <dgm:prSet/>
      <dgm:spPr/>
      <dgm:t>
        <a:bodyPr/>
        <a:lstStyle/>
        <a:p>
          <a:endParaRPr lang="en-IN"/>
        </a:p>
      </dgm:t>
    </dgm:pt>
    <dgm:pt modelId="{A051944A-8780-4373-8B7E-C97A0ABA0FA2}" type="sibTrans" cxnId="{3C6B7709-4E9D-4FF0-8C5E-56C8EC99FC4D}">
      <dgm:prSet/>
      <dgm:spPr/>
      <dgm:t>
        <a:bodyPr/>
        <a:lstStyle/>
        <a:p>
          <a:endParaRPr lang="en-IN"/>
        </a:p>
      </dgm:t>
    </dgm:pt>
    <dgm:pt modelId="{B6361DA7-8B72-44EA-932A-50D3BCBDC5D7}" type="pres">
      <dgm:prSet presAssocID="{ABB7677C-98C3-471B-A5AA-60501B52CDF7}" presName="linear" presStyleCnt="0">
        <dgm:presLayoutVars>
          <dgm:animLvl val="lvl"/>
          <dgm:resizeHandles val="exact"/>
        </dgm:presLayoutVars>
      </dgm:prSet>
      <dgm:spPr/>
    </dgm:pt>
    <dgm:pt modelId="{C2B146E5-D793-46E9-9424-2546A2B051CF}" type="pres">
      <dgm:prSet presAssocID="{E76028E7-BC00-4C08-B968-0A25792B364F}" presName="parentText" presStyleLbl="node1" presStyleIdx="0" presStyleCnt="1" custScaleY="100000" custLinFactNeighborX="-175">
        <dgm:presLayoutVars>
          <dgm:chMax val="0"/>
          <dgm:bulletEnabled val="1"/>
        </dgm:presLayoutVars>
      </dgm:prSet>
      <dgm:spPr/>
    </dgm:pt>
    <dgm:pt modelId="{813561B5-7E03-413C-B83D-13D9A362345E}" type="pres">
      <dgm:prSet presAssocID="{E76028E7-BC00-4C08-B968-0A25792B364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6D55A08-CC4E-47B8-9C69-3E123A01F038}" type="presOf" srcId="{913727A0-05C4-4BD6-9D23-692DACB842AB}" destId="{813561B5-7E03-413C-B83D-13D9A362345E}" srcOrd="0" destOrd="10" presId="urn:microsoft.com/office/officeart/2005/8/layout/vList2"/>
    <dgm:cxn modelId="{3C6B7709-4E9D-4FF0-8C5E-56C8EC99FC4D}" srcId="{E76028E7-BC00-4C08-B968-0A25792B364F}" destId="{826DACCE-86C5-40CA-B717-84E328385068}" srcOrd="11" destOrd="0" parTransId="{662AC11C-34C8-420D-A271-E46606576880}" sibTransId="{A051944A-8780-4373-8B7E-C97A0ABA0FA2}"/>
    <dgm:cxn modelId="{00D4180B-8B9B-40F7-AAD0-8F2EAE28EF16}" srcId="{E76028E7-BC00-4C08-B968-0A25792B364F}" destId="{05854726-0920-4B80-82B9-781982E89843}" srcOrd="0" destOrd="0" parTransId="{A330605C-0F1F-4C08-BC6E-4042A54E866C}" sibTransId="{2FB8406B-ECA3-4021-9998-2BC7BCFC544D}"/>
    <dgm:cxn modelId="{4B4FE216-61EB-40FD-BDA9-51B43CCAAD0F}" type="presOf" srcId="{05854726-0920-4B80-82B9-781982E89843}" destId="{813561B5-7E03-413C-B83D-13D9A362345E}" srcOrd="0" destOrd="0" presId="urn:microsoft.com/office/officeart/2005/8/layout/vList2"/>
    <dgm:cxn modelId="{A659C323-C729-4A88-8C73-A8515C2F8343}" type="presOf" srcId="{826DACCE-86C5-40CA-B717-84E328385068}" destId="{813561B5-7E03-413C-B83D-13D9A362345E}" srcOrd="0" destOrd="11" presId="urn:microsoft.com/office/officeart/2005/8/layout/vList2"/>
    <dgm:cxn modelId="{3D19CE37-84B2-4D71-A3B9-71734DBE929C}" srcId="{E76028E7-BC00-4C08-B968-0A25792B364F}" destId="{3A0C4A3D-AE19-4876-A83D-87DAD8085E01}" srcOrd="9" destOrd="0" parTransId="{C6CB39A6-133D-45C6-8CE3-9921215EC557}" sibTransId="{646E1177-781A-47F0-A025-F8BADE0D8039}"/>
    <dgm:cxn modelId="{8B03F163-4ACF-4783-A4A7-E14536450158}" type="presOf" srcId="{FCC1274C-3D05-484C-9436-E993FF3E9F4B}" destId="{813561B5-7E03-413C-B83D-13D9A362345E}" srcOrd="0" destOrd="6" presId="urn:microsoft.com/office/officeart/2005/8/layout/vList2"/>
    <dgm:cxn modelId="{5E5F8F6E-F40F-4A5F-A338-C706CC9B2EF9}" srcId="{E76028E7-BC00-4C08-B968-0A25792B364F}" destId="{74611326-3C21-405A-BB44-45F4F71B97CD}" srcOrd="8" destOrd="0" parTransId="{80D83BB4-76D4-4754-AA0D-956F97AECCEA}" sibTransId="{66151E76-20D7-46EF-812C-E598A0A96489}"/>
    <dgm:cxn modelId="{D51CAD71-5470-47ED-B89E-0CE0A4AC8642}" srcId="{E76028E7-BC00-4C08-B968-0A25792B364F}" destId="{5C8FFBB1-D6A2-464C-8A61-4AC827AFD7D4}" srcOrd="7" destOrd="0" parTransId="{59A97EB5-943A-46F2-B1BA-FEE3955FAE7D}" sibTransId="{20020E5A-BCDC-4277-881C-C4312B11FA6C}"/>
    <dgm:cxn modelId="{44167374-C52B-4587-8AC3-C27CFD2D0FBF}" type="presOf" srcId="{3A0C4A3D-AE19-4876-A83D-87DAD8085E01}" destId="{813561B5-7E03-413C-B83D-13D9A362345E}" srcOrd="0" destOrd="9" presId="urn:microsoft.com/office/officeart/2005/8/layout/vList2"/>
    <dgm:cxn modelId="{93C2B975-5341-4848-9837-7733BBD75F97}" type="presOf" srcId="{46B86CAD-16BE-48E0-B245-3439330B4DD9}" destId="{813561B5-7E03-413C-B83D-13D9A362345E}" srcOrd="0" destOrd="5" presId="urn:microsoft.com/office/officeart/2005/8/layout/vList2"/>
    <dgm:cxn modelId="{724BEE75-1337-4731-B8C7-636F4E0C4ED3}" type="presOf" srcId="{DA7F3E12-21B8-4A66-80BF-4FA83343B6A6}" destId="{813561B5-7E03-413C-B83D-13D9A362345E}" srcOrd="0" destOrd="3" presId="urn:microsoft.com/office/officeart/2005/8/layout/vList2"/>
    <dgm:cxn modelId="{B3EE1257-F1E3-4507-8B99-987C655E7FBB}" srcId="{E76028E7-BC00-4C08-B968-0A25792B364F}" destId="{913727A0-05C4-4BD6-9D23-692DACB842AB}" srcOrd="10" destOrd="0" parTransId="{BAEAD127-7BA4-4B1B-8B37-94CCD933A24E}" sibTransId="{D4EE4F72-3206-4512-B565-504451FCAF37}"/>
    <dgm:cxn modelId="{6F3B7157-93D3-48B0-B2E6-741002B19A39}" srcId="{E76028E7-BC00-4C08-B968-0A25792B364F}" destId="{DA7F3E12-21B8-4A66-80BF-4FA83343B6A6}" srcOrd="3" destOrd="0" parTransId="{0B3C39B2-10B3-402E-B938-80EE6EEA419C}" sibTransId="{7F09D05F-7944-4B3C-B868-56DCDD378417}"/>
    <dgm:cxn modelId="{DE4F457E-1E00-4D9B-A0BB-D0129A9DE9DB}" type="presOf" srcId="{D42284AB-6A59-499D-BF76-480280554D6C}" destId="{813561B5-7E03-413C-B83D-13D9A362345E}" srcOrd="0" destOrd="2" presId="urn:microsoft.com/office/officeart/2005/8/layout/vList2"/>
    <dgm:cxn modelId="{852F5584-3B07-407A-8314-B03C7FEB3C87}" srcId="{E76028E7-BC00-4C08-B968-0A25792B364F}" destId="{FCC1274C-3D05-484C-9436-E993FF3E9F4B}" srcOrd="6" destOrd="0" parTransId="{58635E8E-527C-4EC6-9740-B7CCDC2D6B19}" sibTransId="{2C3B7A84-460C-411F-B7F6-8B370F507E31}"/>
    <dgm:cxn modelId="{D0856A85-3256-4CA8-9663-CEE3849E7193}" type="presOf" srcId="{5C8FFBB1-D6A2-464C-8A61-4AC827AFD7D4}" destId="{813561B5-7E03-413C-B83D-13D9A362345E}" srcOrd="0" destOrd="7" presId="urn:microsoft.com/office/officeart/2005/8/layout/vList2"/>
    <dgm:cxn modelId="{52D1BD90-34A3-4BAE-99E8-E992BC896C39}" srcId="{E76028E7-BC00-4C08-B968-0A25792B364F}" destId="{D42284AB-6A59-499D-BF76-480280554D6C}" srcOrd="2" destOrd="0" parTransId="{B070092D-4FA8-45AF-9CC8-024D013D5C9E}" sibTransId="{5E75359D-7E00-45C2-875F-706EA39B9BAF}"/>
    <dgm:cxn modelId="{601BDC9F-A6D1-4520-9F44-E5A7CFF82236}" type="presOf" srcId="{27B79E68-5A57-4733-9AF2-19788821CC86}" destId="{813561B5-7E03-413C-B83D-13D9A362345E}" srcOrd="0" destOrd="1" presId="urn:microsoft.com/office/officeart/2005/8/layout/vList2"/>
    <dgm:cxn modelId="{727D7DA0-9481-4556-A8EA-E3F8D40C7037}" srcId="{E76028E7-BC00-4C08-B968-0A25792B364F}" destId="{27B79E68-5A57-4733-9AF2-19788821CC86}" srcOrd="1" destOrd="0" parTransId="{20350D57-92CF-4533-97F4-A75A2D62434C}" sibTransId="{8E34F9FC-7F1A-43E7-A4AC-09FC254B0C7A}"/>
    <dgm:cxn modelId="{BE6C7EAA-866B-4998-9214-368B3014A0CC}" type="presOf" srcId="{E76028E7-BC00-4C08-B968-0A25792B364F}" destId="{C2B146E5-D793-46E9-9424-2546A2B051CF}" srcOrd="0" destOrd="0" presId="urn:microsoft.com/office/officeart/2005/8/layout/vList2"/>
    <dgm:cxn modelId="{5745ACB7-4E4E-4106-BA0F-1BFEE4E166C1}" srcId="{E76028E7-BC00-4C08-B968-0A25792B364F}" destId="{B2AF49C6-7197-462F-9117-67A34B44F999}" srcOrd="4" destOrd="0" parTransId="{3E799A53-570C-4491-8A11-3F52ACBA4E90}" sibTransId="{346C711F-606C-4DA0-BF57-9A6888303422}"/>
    <dgm:cxn modelId="{75F971CF-127B-49CB-8F2F-1B37F86242B3}" type="presOf" srcId="{74611326-3C21-405A-BB44-45F4F71B97CD}" destId="{813561B5-7E03-413C-B83D-13D9A362345E}" srcOrd="0" destOrd="8" presId="urn:microsoft.com/office/officeart/2005/8/layout/vList2"/>
    <dgm:cxn modelId="{1613D4D8-E983-4DDA-B2BA-6522AD34741C}" type="presOf" srcId="{ABB7677C-98C3-471B-A5AA-60501B52CDF7}" destId="{B6361DA7-8B72-44EA-932A-50D3BCBDC5D7}" srcOrd="0" destOrd="0" presId="urn:microsoft.com/office/officeart/2005/8/layout/vList2"/>
    <dgm:cxn modelId="{E35751DC-3F72-48C4-BB86-F001C26A4445}" srcId="{ABB7677C-98C3-471B-A5AA-60501B52CDF7}" destId="{E76028E7-BC00-4C08-B968-0A25792B364F}" srcOrd="0" destOrd="0" parTransId="{C1960ABF-1404-4AA8-886E-A2E64A9E39AF}" sibTransId="{A38BA978-8613-46F3-AFFF-5A3A2B2B1D96}"/>
    <dgm:cxn modelId="{002884EE-4CEC-4A3E-B5C4-6F9F1C9FDB14}" type="presOf" srcId="{B2AF49C6-7197-462F-9117-67A34B44F999}" destId="{813561B5-7E03-413C-B83D-13D9A362345E}" srcOrd="0" destOrd="4" presId="urn:microsoft.com/office/officeart/2005/8/layout/vList2"/>
    <dgm:cxn modelId="{4411A3FA-710E-43AC-83FC-07E1868F5FFB}" srcId="{E76028E7-BC00-4C08-B968-0A25792B364F}" destId="{46B86CAD-16BE-48E0-B245-3439330B4DD9}" srcOrd="5" destOrd="0" parTransId="{0752C654-B9EB-43A6-B4A5-1DD041524889}" sibTransId="{2478B6D8-5B5C-44AE-89C0-6B9A0631FC91}"/>
    <dgm:cxn modelId="{FF898320-1199-4FA5-B4D2-E6BD34D8A137}" type="presParOf" srcId="{B6361DA7-8B72-44EA-932A-50D3BCBDC5D7}" destId="{C2B146E5-D793-46E9-9424-2546A2B051CF}" srcOrd="0" destOrd="0" presId="urn:microsoft.com/office/officeart/2005/8/layout/vList2"/>
    <dgm:cxn modelId="{14742317-3F00-4D73-BF39-27D7DE286B26}" type="presParOf" srcId="{B6361DA7-8B72-44EA-932A-50D3BCBDC5D7}" destId="{813561B5-7E03-413C-B83D-13D9A362345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B79DF0-3954-41CD-A83E-1F6A979B3F41}" type="doc">
      <dgm:prSet loTypeId="urn:microsoft.com/office/officeart/2005/8/layout/vList3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0EFA6FBF-A183-4BBB-900D-6B91C699A2FA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sz="1400" b="1" dirty="0"/>
            <a:t>TECHNICAL</a:t>
          </a:r>
        </a:p>
      </dgm:t>
    </dgm:pt>
    <dgm:pt modelId="{39659CB5-D51A-44EA-A4FF-FB4B698F9C7F}" type="parTrans" cxnId="{EB9486C6-4039-4696-AD7C-241E72E54083}">
      <dgm:prSet/>
      <dgm:spPr/>
      <dgm:t>
        <a:bodyPr/>
        <a:lstStyle/>
        <a:p>
          <a:endParaRPr lang="en-IN"/>
        </a:p>
      </dgm:t>
    </dgm:pt>
    <dgm:pt modelId="{26AF90F6-F48C-4CC0-B56B-E813BE208BF3}" type="sibTrans" cxnId="{EB9486C6-4039-4696-AD7C-241E72E54083}">
      <dgm:prSet/>
      <dgm:spPr/>
      <dgm:t>
        <a:bodyPr/>
        <a:lstStyle/>
        <a:p>
          <a:endParaRPr lang="en-IN"/>
        </a:p>
      </dgm:t>
    </dgm:pt>
    <dgm:pt modelId="{C149B975-55AA-4249-B09A-261386BE726E}">
      <dgm:prSet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sz="1200" b="1" dirty="0"/>
            <a:t>Uses open-source, CPU-friendly models with functional Colab prototypes (P1, P2, P4) ready; technical effort focuses only on integration and liveness selection</a:t>
          </a:r>
          <a:r>
            <a:rPr lang="en-IN" sz="1100" b="1" dirty="0"/>
            <a:t>.</a:t>
          </a:r>
        </a:p>
      </dgm:t>
    </dgm:pt>
    <dgm:pt modelId="{912B501B-5ACC-41A3-A118-48C572E7245A}" type="parTrans" cxnId="{D3EB834C-0147-4232-931A-A0BC40E0D385}">
      <dgm:prSet/>
      <dgm:spPr/>
      <dgm:t>
        <a:bodyPr/>
        <a:lstStyle/>
        <a:p>
          <a:endParaRPr lang="en-IN"/>
        </a:p>
      </dgm:t>
    </dgm:pt>
    <dgm:pt modelId="{890C4C9C-40DA-495F-8D09-DC2B25871117}" type="sibTrans" cxnId="{D3EB834C-0147-4232-931A-A0BC40E0D385}">
      <dgm:prSet/>
      <dgm:spPr/>
      <dgm:t>
        <a:bodyPr/>
        <a:lstStyle/>
        <a:p>
          <a:endParaRPr lang="en-IN"/>
        </a:p>
      </dgm:t>
    </dgm:pt>
    <dgm:pt modelId="{59EDDBDE-D536-4B44-8B29-22A380AE2293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IN" sz="1400" b="1" dirty="0"/>
            <a:t>FINANCIAL</a:t>
          </a:r>
        </a:p>
      </dgm:t>
    </dgm:pt>
    <dgm:pt modelId="{124983D0-95CE-42BB-AF17-F338E8BE0791}" type="parTrans" cxnId="{705A4544-19FA-429D-8840-BFBBCB75C05F}">
      <dgm:prSet/>
      <dgm:spPr/>
      <dgm:t>
        <a:bodyPr/>
        <a:lstStyle/>
        <a:p>
          <a:endParaRPr lang="en-IN"/>
        </a:p>
      </dgm:t>
    </dgm:pt>
    <dgm:pt modelId="{8DB7E91B-B725-4261-BFA1-9E71777E6102}" type="sibTrans" cxnId="{705A4544-19FA-429D-8840-BFBBCB75C05F}">
      <dgm:prSet/>
      <dgm:spPr/>
      <dgm:t>
        <a:bodyPr/>
        <a:lstStyle/>
        <a:p>
          <a:endParaRPr lang="en-IN"/>
        </a:p>
      </dgm:t>
    </dgm:pt>
    <dgm:pt modelId="{5D796D7F-823E-47E3-BCB6-C29D8F4C80D6}">
      <dgm:prSet custT="1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IN" sz="1200" b="1" dirty="0"/>
            <a:t>Open-source stack eliminates recurring inference fees, restricting costs to pre-budgeted, one-time edge hardware purchases (</a:t>
          </a:r>
          <a:r>
            <a:rPr lang="en-IN" sz="1200" b="1" baseline="0" dirty="0"/>
            <a:t>CapEx</a:t>
          </a:r>
          <a:r>
            <a:rPr lang="en-IN" sz="1200" b="1" dirty="0"/>
            <a:t>).</a:t>
          </a:r>
        </a:p>
      </dgm:t>
    </dgm:pt>
    <dgm:pt modelId="{448B57AF-ABD0-4BD5-A960-8CB632122800}" type="parTrans" cxnId="{AC958135-3986-4FA3-BA92-2B011613A748}">
      <dgm:prSet/>
      <dgm:spPr/>
      <dgm:t>
        <a:bodyPr/>
        <a:lstStyle/>
        <a:p>
          <a:endParaRPr lang="en-IN"/>
        </a:p>
      </dgm:t>
    </dgm:pt>
    <dgm:pt modelId="{22AC6D21-B0FB-42FF-9AB3-B8FF596E0325}" type="sibTrans" cxnId="{AC958135-3986-4FA3-BA92-2B011613A748}">
      <dgm:prSet/>
      <dgm:spPr/>
      <dgm:t>
        <a:bodyPr/>
        <a:lstStyle/>
        <a:p>
          <a:endParaRPr lang="en-IN"/>
        </a:p>
      </dgm:t>
    </dgm:pt>
    <dgm:pt modelId="{57BC083D-8F05-4905-B9A9-1779A3C560B6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IN" sz="1400" b="1" dirty="0"/>
            <a:t>MARKET</a:t>
          </a:r>
        </a:p>
      </dgm:t>
    </dgm:pt>
    <dgm:pt modelId="{E0877D8F-2C07-48A6-B253-4B7A91AD0411}" type="parTrans" cxnId="{7B916BE9-63A5-4E1C-BEAC-6AA021D94921}">
      <dgm:prSet/>
      <dgm:spPr/>
      <dgm:t>
        <a:bodyPr/>
        <a:lstStyle/>
        <a:p>
          <a:endParaRPr lang="en-IN"/>
        </a:p>
      </dgm:t>
    </dgm:pt>
    <dgm:pt modelId="{7005F13B-6EAA-4757-AF69-B595116D97EE}" type="sibTrans" cxnId="{7B916BE9-63A5-4E1C-BEAC-6AA021D94921}">
      <dgm:prSet/>
      <dgm:spPr/>
      <dgm:t>
        <a:bodyPr/>
        <a:lstStyle/>
        <a:p>
          <a:endParaRPr lang="en-IN"/>
        </a:p>
      </dgm:t>
    </dgm:pt>
    <dgm:pt modelId="{1803EE1F-DF91-446B-8291-1DA075CEFFED}">
      <dgm:prSet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IN" sz="1200" b="1" dirty="0"/>
            <a:t>Tailor-made for border checkpoints to directly address SSB’s operational problem statement, eliminating market demand uncertainty.</a:t>
          </a:r>
        </a:p>
      </dgm:t>
    </dgm:pt>
    <dgm:pt modelId="{4744B95C-69F1-45B8-8122-706EE0E1B251}" type="parTrans" cxnId="{90DFE10F-7E62-409F-8944-40364E7DCE6E}">
      <dgm:prSet/>
      <dgm:spPr/>
      <dgm:t>
        <a:bodyPr/>
        <a:lstStyle/>
        <a:p>
          <a:endParaRPr lang="en-IN"/>
        </a:p>
      </dgm:t>
    </dgm:pt>
    <dgm:pt modelId="{F8D324ED-764C-42B0-9A89-E7E042C8F6F3}" type="sibTrans" cxnId="{90DFE10F-7E62-409F-8944-40364E7DCE6E}">
      <dgm:prSet/>
      <dgm:spPr/>
      <dgm:t>
        <a:bodyPr/>
        <a:lstStyle/>
        <a:p>
          <a:endParaRPr lang="en-IN"/>
        </a:p>
      </dgm:t>
    </dgm:pt>
    <dgm:pt modelId="{076BB14A-106A-4040-9267-80D57D0A27DE}">
      <dgm:prSet/>
      <dgm:spPr/>
      <dgm:t>
        <a:bodyPr/>
        <a:lstStyle/>
        <a:p>
          <a:r>
            <a:rPr lang="en-IN" sz="1400" b="1" dirty="0"/>
            <a:t>OPERATIONAL</a:t>
          </a:r>
        </a:p>
      </dgm:t>
    </dgm:pt>
    <dgm:pt modelId="{B9D888EA-75F1-4175-8BD7-326C7FBA4BBA}" type="parTrans" cxnId="{4A02D253-92E5-46B0-9148-2E92ADFB992E}">
      <dgm:prSet/>
      <dgm:spPr/>
      <dgm:t>
        <a:bodyPr/>
        <a:lstStyle/>
        <a:p>
          <a:endParaRPr lang="en-IN"/>
        </a:p>
      </dgm:t>
    </dgm:pt>
    <dgm:pt modelId="{C0218FE4-BD13-4EA3-9147-FFAE1B62B347}" type="sibTrans" cxnId="{4A02D253-92E5-46B0-9148-2E92ADFB992E}">
      <dgm:prSet/>
      <dgm:spPr/>
      <dgm:t>
        <a:bodyPr/>
        <a:lstStyle/>
        <a:p>
          <a:endParaRPr lang="en-IN"/>
        </a:p>
      </dgm:t>
    </dgm:pt>
    <dgm:pt modelId="{745C8824-0E26-4AD5-86F1-ADC4D53F748E}">
      <dgm:prSet custT="1"/>
      <dgm:spPr/>
      <dgm:t>
        <a:bodyPr/>
        <a:lstStyle/>
        <a:p>
          <a:r>
            <a:rPr lang="en-IN" sz="1200" b="1" dirty="0"/>
            <a:t>Runs offline at edge-first checkpoints to prevent downtime, needing only periodic model threshold updates using deployment data..</a:t>
          </a:r>
          <a:r>
            <a:rPr lang="en-IN" sz="1100" b="1" dirty="0"/>
            <a:t>		</a:t>
          </a:r>
        </a:p>
      </dgm:t>
    </dgm:pt>
    <dgm:pt modelId="{0071D0B2-725E-489A-94C1-5189EE11C410}" type="parTrans" cxnId="{66E010D3-FF6C-4238-A665-F7A46B26621E}">
      <dgm:prSet/>
      <dgm:spPr/>
      <dgm:t>
        <a:bodyPr/>
        <a:lstStyle/>
        <a:p>
          <a:endParaRPr lang="en-IN"/>
        </a:p>
      </dgm:t>
    </dgm:pt>
    <dgm:pt modelId="{92B46D4C-FF85-449B-A1FB-3CD81C85A1F4}" type="sibTrans" cxnId="{66E010D3-FF6C-4238-A665-F7A46B26621E}">
      <dgm:prSet/>
      <dgm:spPr/>
      <dgm:t>
        <a:bodyPr/>
        <a:lstStyle/>
        <a:p>
          <a:endParaRPr lang="en-IN"/>
        </a:p>
      </dgm:t>
    </dgm:pt>
    <dgm:pt modelId="{65977876-6369-4CCE-A3A7-DA8A2E2779D9}" type="pres">
      <dgm:prSet presAssocID="{71B79DF0-3954-41CD-A83E-1F6A979B3F41}" presName="linearFlow" presStyleCnt="0">
        <dgm:presLayoutVars>
          <dgm:dir/>
          <dgm:resizeHandles val="exact"/>
        </dgm:presLayoutVars>
      </dgm:prSet>
      <dgm:spPr/>
    </dgm:pt>
    <dgm:pt modelId="{8C178215-88D3-476F-B0B9-421B832CB705}" type="pres">
      <dgm:prSet presAssocID="{0EFA6FBF-A183-4BBB-900D-6B91C699A2FA}" presName="composite" presStyleCnt="0"/>
      <dgm:spPr/>
    </dgm:pt>
    <dgm:pt modelId="{F6FB7852-4095-4015-9D9B-DD8BDA4DDE1D}" type="pres">
      <dgm:prSet presAssocID="{0EFA6FBF-A183-4BBB-900D-6B91C699A2FA}" presName="imgShp" presStyleLbl="fgImgPlace1" presStyleIdx="0" presStyleCnt="4"/>
      <dgm:spPr>
        <a:blipFill rotWithShape="1">
          <a:blip xmlns:r="http://schemas.openxmlformats.org/officeDocument/2006/relationships" r:embed="rId1"/>
          <a:srcRect/>
          <a:stretch>
            <a:fillRect l="-3000" r="-3000"/>
          </a:stretch>
        </a:blipFill>
      </dgm:spPr>
    </dgm:pt>
    <dgm:pt modelId="{D36A5908-06C1-4E8B-8793-1CE5CA6E5EA2}" type="pres">
      <dgm:prSet presAssocID="{0EFA6FBF-A183-4BBB-900D-6B91C699A2FA}" presName="txShp" presStyleLbl="node1" presStyleIdx="0" presStyleCnt="4" custLinFactNeighborX="36" custLinFactNeighborY="-3354">
        <dgm:presLayoutVars>
          <dgm:bulletEnabled val="1"/>
        </dgm:presLayoutVars>
      </dgm:prSet>
      <dgm:spPr/>
    </dgm:pt>
    <dgm:pt modelId="{CEE661A8-81A0-45CF-BC47-18A67C076F21}" type="pres">
      <dgm:prSet presAssocID="{26AF90F6-F48C-4CC0-B56B-E813BE208BF3}" presName="spacing" presStyleCnt="0"/>
      <dgm:spPr/>
    </dgm:pt>
    <dgm:pt modelId="{DC780C51-2D9B-4B2F-8AF8-A8EEFE292946}" type="pres">
      <dgm:prSet presAssocID="{59EDDBDE-D536-4B44-8B29-22A380AE2293}" presName="composite" presStyleCnt="0"/>
      <dgm:spPr/>
    </dgm:pt>
    <dgm:pt modelId="{28E913D0-34A4-45C1-9FFA-201C2CA59CA2}" type="pres">
      <dgm:prSet presAssocID="{59EDDBDE-D536-4B44-8B29-22A380AE2293}" presName="imgShp" presStyleLbl="fgImgPlace1" presStyleIdx="1" presStyleCnt="4"/>
      <dgm:spPr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</dgm:spPr>
    </dgm:pt>
    <dgm:pt modelId="{5A34512A-630B-4EA0-8FF4-F7C565B23514}" type="pres">
      <dgm:prSet presAssocID="{59EDDBDE-D536-4B44-8B29-22A380AE2293}" presName="txShp" presStyleLbl="node1" presStyleIdx="1" presStyleCnt="4">
        <dgm:presLayoutVars>
          <dgm:bulletEnabled val="1"/>
        </dgm:presLayoutVars>
      </dgm:prSet>
      <dgm:spPr/>
    </dgm:pt>
    <dgm:pt modelId="{1801989D-45F5-4EC7-B378-EC2D62C34DC5}" type="pres">
      <dgm:prSet presAssocID="{8DB7E91B-B725-4261-BFA1-9E71777E6102}" presName="spacing" presStyleCnt="0"/>
      <dgm:spPr/>
    </dgm:pt>
    <dgm:pt modelId="{9A993344-63C3-45C6-ABD8-C225B618FF35}" type="pres">
      <dgm:prSet presAssocID="{57BC083D-8F05-4905-B9A9-1779A3C560B6}" presName="composite" presStyleCnt="0"/>
      <dgm:spPr/>
    </dgm:pt>
    <dgm:pt modelId="{D9D127C2-2F97-4438-814E-BE59FE6F2992}" type="pres">
      <dgm:prSet presAssocID="{57BC083D-8F05-4905-B9A9-1779A3C560B6}" presName="imgShp" presStyleLbl="fgImgPlace1" presStyleIdx="2" presStyleCnt="4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A5795BF2-E5FE-4DB9-80A3-9B3781963D93}" type="pres">
      <dgm:prSet presAssocID="{57BC083D-8F05-4905-B9A9-1779A3C560B6}" presName="txShp" presStyleLbl="node1" presStyleIdx="2" presStyleCnt="4" custLinFactNeighborX="-561" custLinFactNeighborY="-1508">
        <dgm:presLayoutVars>
          <dgm:bulletEnabled val="1"/>
        </dgm:presLayoutVars>
      </dgm:prSet>
      <dgm:spPr/>
    </dgm:pt>
    <dgm:pt modelId="{9D4427FD-FF2D-4F1E-ACD3-4645C4F37229}" type="pres">
      <dgm:prSet presAssocID="{7005F13B-6EAA-4757-AF69-B595116D97EE}" presName="spacing" presStyleCnt="0"/>
      <dgm:spPr/>
    </dgm:pt>
    <dgm:pt modelId="{AC713F98-3E07-4345-BF6B-FC8F2D190E4B}" type="pres">
      <dgm:prSet presAssocID="{076BB14A-106A-4040-9267-80D57D0A27DE}" presName="composite" presStyleCnt="0"/>
      <dgm:spPr/>
    </dgm:pt>
    <dgm:pt modelId="{C8958A75-6220-4936-BC2C-76606249C3A6}" type="pres">
      <dgm:prSet presAssocID="{076BB14A-106A-4040-9267-80D57D0A27DE}" presName="imgShp" presStyleLbl="fgImgPlace1" presStyleIdx="3" presStyleCnt="4"/>
      <dgm:spPr>
        <a:blipFill rotWithShape="1"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6B584F66-3075-4356-BCEA-575233874EAE}" type="pres">
      <dgm:prSet presAssocID="{076BB14A-106A-4040-9267-80D57D0A27DE}" presName="txShp" presStyleLbl="node1" presStyleIdx="3" presStyleCnt="4" custLinFactNeighborY="1021">
        <dgm:presLayoutVars>
          <dgm:bulletEnabled val="1"/>
        </dgm:presLayoutVars>
      </dgm:prSet>
      <dgm:spPr/>
    </dgm:pt>
  </dgm:ptLst>
  <dgm:cxnLst>
    <dgm:cxn modelId="{90DFE10F-7E62-409F-8944-40364E7DCE6E}" srcId="{57BC083D-8F05-4905-B9A9-1779A3C560B6}" destId="{1803EE1F-DF91-446B-8291-1DA075CEFFED}" srcOrd="0" destOrd="0" parTransId="{4744B95C-69F1-45B8-8122-706EE0E1B251}" sibTransId="{F8D324ED-764C-42B0-9A89-E7E042C8F6F3}"/>
    <dgm:cxn modelId="{E4CEA424-3A58-4FFF-A206-AE6B1BB3B3E7}" type="presOf" srcId="{0EFA6FBF-A183-4BBB-900D-6B91C699A2FA}" destId="{D36A5908-06C1-4E8B-8793-1CE5CA6E5EA2}" srcOrd="0" destOrd="0" presId="urn:microsoft.com/office/officeart/2005/8/layout/vList3"/>
    <dgm:cxn modelId="{AC958135-3986-4FA3-BA92-2B011613A748}" srcId="{59EDDBDE-D536-4B44-8B29-22A380AE2293}" destId="{5D796D7F-823E-47E3-BCB6-C29D8F4C80D6}" srcOrd="0" destOrd="0" parTransId="{448B57AF-ABD0-4BD5-A960-8CB632122800}" sibTransId="{22AC6D21-B0FB-42FF-9AB3-B8FF596E0325}"/>
    <dgm:cxn modelId="{B8BE2842-35D9-400C-9C82-C9E4ADFE59F9}" type="presOf" srcId="{076BB14A-106A-4040-9267-80D57D0A27DE}" destId="{6B584F66-3075-4356-BCEA-575233874EAE}" srcOrd="0" destOrd="0" presId="urn:microsoft.com/office/officeart/2005/8/layout/vList3"/>
    <dgm:cxn modelId="{705A4544-19FA-429D-8840-BFBBCB75C05F}" srcId="{71B79DF0-3954-41CD-A83E-1F6A979B3F41}" destId="{59EDDBDE-D536-4B44-8B29-22A380AE2293}" srcOrd="1" destOrd="0" parTransId="{124983D0-95CE-42BB-AF17-F338E8BE0791}" sibTransId="{8DB7E91B-B725-4261-BFA1-9E71777E6102}"/>
    <dgm:cxn modelId="{C9A51345-C0AE-41E5-882C-5C078829C08E}" type="presOf" srcId="{745C8824-0E26-4AD5-86F1-ADC4D53F748E}" destId="{6B584F66-3075-4356-BCEA-575233874EAE}" srcOrd="0" destOrd="1" presId="urn:microsoft.com/office/officeart/2005/8/layout/vList3"/>
    <dgm:cxn modelId="{D3EB834C-0147-4232-931A-A0BC40E0D385}" srcId="{0EFA6FBF-A183-4BBB-900D-6B91C699A2FA}" destId="{C149B975-55AA-4249-B09A-261386BE726E}" srcOrd="0" destOrd="0" parTransId="{912B501B-5ACC-41A3-A118-48C572E7245A}" sibTransId="{890C4C9C-40DA-495F-8D09-DC2B25871117}"/>
    <dgm:cxn modelId="{7D64106E-A629-42F2-BEF4-0A66818F08B5}" type="presOf" srcId="{5D796D7F-823E-47E3-BCB6-C29D8F4C80D6}" destId="{5A34512A-630B-4EA0-8FF4-F7C565B23514}" srcOrd="0" destOrd="1" presId="urn:microsoft.com/office/officeart/2005/8/layout/vList3"/>
    <dgm:cxn modelId="{4A02D253-92E5-46B0-9148-2E92ADFB992E}" srcId="{71B79DF0-3954-41CD-A83E-1F6A979B3F41}" destId="{076BB14A-106A-4040-9267-80D57D0A27DE}" srcOrd="3" destOrd="0" parTransId="{B9D888EA-75F1-4175-8BD7-326C7FBA4BBA}" sibTransId="{C0218FE4-BD13-4EA3-9147-FFAE1B62B347}"/>
    <dgm:cxn modelId="{E15A2FAD-574B-4662-9F9F-D2AAA2905C15}" type="presOf" srcId="{1803EE1F-DF91-446B-8291-1DA075CEFFED}" destId="{A5795BF2-E5FE-4DB9-80A3-9B3781963D93}" srcOrd="0" destOrd="1" presId="urn:microsoft.com/office/officeart/2005/8/layout/vList3"/>
    <dgm:cxn modelId="{0DD3B3BB-7F80-45E6-9B07-A58C21F1DED1}" type="presOf" srcId="{C149B975-55AA-4249-B09A-261386BE726E}" destId="{D36A5908-06C1-4E8B-8793-1CE5CA6E5EA2}" srcOrd="0" destOrd="1" presId="urn:microsoft.com/office/officeart/2005/8/layout/vList3"/>
    <dgm:cxn modelId="{108617BD-85CE-419E-8A2C-32B29CC7741A}" type="presOf" srcId="{71B79DF0-3954-41CD-A83E-1F6A979B3F41}" destId="{65977876-6369-4CCE-A3A7-DA8A2E2779D9}" srcOrd="0" destOrd="0" presId="urn:microsoft.com/office/officeart/2005/8/layout/vList3"/>
    <dgm:cxn modelId="{EB9486C6-4039-4696-AD7C-241E72E54083}" srcId="{71B79DF0-3954-41CD-A83E-1F6A979B3F41}" destId="{0EFA6FBF-A183-4BBB-900D-6B91C699A2FA}" srcOrd="0" destOrd="0" parTransId="{39659CB5-D51A-44EA-A4FF-FB4B698F9C7F}" sibTransId="{26AF90F6-F48C-4CC0-B56B-E813BE208BF3}"/>
    <dgm:cxn modelId="{66E010D3-FF6C-4238-A665-F7A46B26621E}" srcId="{076BB14A-106A-4040-9267-80D57D0A27DE}" destId="{745C8824-0E26-4AD5-86F1-ADC4D53F748E}" srcOrd="0" destOrd="0" parTransId="{0071D0B2-725E-489A-94C1-5189EE11C410}" sibTransId="{92B46D4C-FF85-449B-A1FB-3CD81C85A1F4}"/>
    <dgm:cxn modelId="{0088A3D8-536F-4509-89EA-5EDA44BE2814}" type="presOf" srcId="{57BC083D-8F05-4905-B9A9-1779A3C560B6}" destId="{A5795BF2-E5FE-4DB9-80A3-9B3781963D93}" srcOrd="0" destOrd="0" presId="urn:microsoft.com/office/officeart/2005/8/layout/vList3"/>
    <dgm:cxn modelId="{7B916BE9-63A5-4E1C-BEAC-6AA021D94921}" srcId="{71B79DF0-3954-41CD-A83E-1F6A979B3F41}" destId="{57BC083D-8F05-4905-B9A9-1779A3C560B6}" srcOrd="2" destOrd="0" parTransId="{E0877D8F-2C07-48A6-B253-4B7A91AD0411}" sibTransId="{7005F13B-6EAA-4757-AF69-B595116D97EE}"/>
    <dgm:cxn modelId="{33FEFAF5-9D8D-439A-9E35-02333438FCB0}" type="presOf" srcId="{59EDDBDE-D536-4B44-8B29-22A380AE2293}" destId="{5A34512A-630B-4EA0-8FF4-F7C565B23514}" srcOrd="0" destOrd="0" presId="urn:microsoft.com/office/officeart/2005/8/layout/vList3"/>
    <dgm:cxn modelId="{23E59972-2C75-4561-BCF8-0E02023D13CF}" type="presParOf" srcId="{65977876-6369-4CCE-A3A7-DA8A2E2779D9}" destId="{8C178215-88D3-476F-B0B9-421B832CB705}" srcOrd="0" destOrd="0" presId="urn:microsoft.com/office/officeart/2005/8/layout/vList3"/>
    <dgm:cxn modelId="{CFEF5C9D-FC1D-42EF-B6F5-82A08C344F55}" type="presParOf" srcId="{8C178215-88D3-476F-B0B9-421B832CB705}" destId="{F6FB7852-4095-4015-9D9B-DD8BDA4DDE1D}" srcOrd="0" destOrd="0" presId="urn:microsoft.com/office/officeart/2005/8/layout/vList3"/>
    <dgm:cxn modelId="{6B8FE3DD-E165-481A-9E27-E766F86A6738}" type="presParOf" srcId="{8C178215-88D3-476F-B0B9-421B832CB705}" destId="{D36A5908-06C1-4E8B-8793-1CE5CA6E5EA2}" srcOrd="1" destOrd="0" presId="urn:microsoft.com/office/officeart/2005/8/layout/vList3"/>
    <dgm:cxn modelId="{2F70A65E-1E0D-4DC1-9E14-07BC66C89891}" type="presParOf" srcId="{65977876-6369-4CCE-A3A7-DA8A2E2779D9}" destId="{CEE661A8-81A0-45CF-BC47-18A67C076F21}" srcOrd="1" destOrd="0" presId="urn:microsoft.com/office/officeart/2005/8/layout/vList3"/>
    <dgm:cxn modelId="{D2BBB56B-4642-4229-9081-577D03C0203A}" type="presParOf" srcId="{65977876-6369-4CCE-A3A7-DA8A2E2779D9}" destId="{DC780C51-2D9B-4B2F-8AF8-A8EEFE292946}" srcOrd="2" destOrd="0" presId="urn:microsoft.com/office/officeart/2005/8/layout/vList3"/>
    <dgm:cxn modelId="{ED38EC78-A0DF-4DD3-AF46-56854A2233FA}" type="presParOf" srcId="{DC780C51-2D9B-4B2F-8AF8-A8EEFE292946}" destId="{28E913D0-34A4-45C1-9FFA-201C2CA59CA2}" srcOrd="0" destOrd="0" presId="urn:microsoft.com/office/officeart/2005/8/layout/vList3"/>
    <dgm:cxn modelId="{32FEBBAB-FE71-49A8-BEDC-931CEE7CACCD}" type="presParOf" srcId="{DC780C51-2D9B-4B2F-8AF8-A8EEFE292946}" destId="{5A34512A-630B-4EA0-8FF4-F7C565B23514}" srcOrd="1" destOrd="0" presId="urn:microsoft.com/office/officeart/2005/8/layout/vList3"/>
    <dgm:cxn modelId="{E0BFC6EB-D781-4C5C-AC85-1C37FD0C1ADD}" type="presParOf" srcId="{65977876-6369-4CCE-A3A7-DA8A2E2779D9}" destId="{1801989D-45F5-4EC7-B378-EC2D62C34DC5}" srcOrd="3" destOrd="0" presId="urn:microsoft.com/office/officeart/2005/8/layout/vList3"/>
    <dgm:cxn modelId="{069BF041-D161-48CD-AD41-4348C99FD65D}" type="presParOf" srcId="{65977876-6369-4CCE-A3A7-DA8A2E2779D9}" destId="{9A993344-63C3-45C6-ABD8-C225B618FF35}" srcOrd="4" destOrd="0" presId="urn:microsoft.com/office/officeart/2005/8/layout/vList3"/>
    <dgm:cxn modelId="{9D12769D-CF83-4751-BDF5-5120201376BC}" type="presParOf" srcId="{9A993344-63C3-45C6-ABD8-C225B618FF35}" destId="{D9D127C2-2F97-4438-814E-BE59FE6F2992}" srcOrd="0" destOrd="0" presId="urn:microsoft.com/office/officeart/2005/8/layout/vList3"/>
    <dgm:cxn modelId="{EE5F6249-D545-424C-ABD8-ED07445942B8}" type="presParOf" srcId="{9A993344-63C3-45C6-ABD8-C225B618FF35}" destId="{A5795BF2-E5FE-4DB9-80A3-9B3781963D93}" srcOrd="1" destOrd="0" presId="urn:microsoft.com/office/officeart/2005/8/layout/vList3"/>
    <dgm:cxn modelId="{9B749671-2E0C-4F49-8764-8EE124B12180}" type="presParOf" srcId="{65977876-6369-4CCE-A3A7-DA8A2E2779D9}" destId="{9D4427FD-FF2D-4F1E-ACD3-4645C4F37229}" srcOrd="5" destOrd="0" presId="urn:microsoft.com/office/officeart/2005/8/layout/vList3"/>
    <dgm:cxn modelId="{FE6E73EE-23AE-40DB-A685-4BB84FD378C2}" type="presParOf" srcId="{65977876-6369-4CCE-A3A7-DA8A2E2779D9}" destId="{AC713F98-3E07-4345-BF6B-FC8F2D190E4B}" srcOrd="6" destOrd="0" presId="urn:microsoft.com/office/officeart/2005/8/layout/vList3"/>
    <dgm:cxn modelId="{EFB985B7-21BA-4DA6-B2F5-7D1DD2B7F94F}" type="presParOf" srcId="{AC713F98-3E07-4345-BF6B-FC8F2D190E4B}" destId="{C8958A75-6220-4936-BC2C-76606249C3A6}" srcOrd="0" destOrd="0" presId="urn:microsoft.com/office/officeart/2005/8/layout/vList3"/>
    <dgm:cxn modelId="{8FBA71A6-2300-41F5-AA0F-BEDF47E871F6}" type="presParOf" srcId="{AC713F98-3E07-4345-BF6B-FC8F2D190E4B}" destId="{6B584F66-3075-4356-BCEA-575233874EA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B146E5-D793-46E9-9424-2546A2B051CF}">
      <dsp:nvSpPr>
        <dsp:cNvPr id="0" name=""/>
        <dsp:cNvSpPr/>
      </dsp:nvSpPr>
      <dsp:spPr>
        <a:xfrm>
          <a:off x="0" y="258522"/>
          <a:ext cx="4652131" cy="431730"/>
        </a:xfrm>
        <a:prstGeom prst="round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Technologies Used</a:t>
          </a:r>
          <a:endParaRPr lang="en-IN" sz="1800" kern="1200"/>
        </a:p>
      </dsp:txBody>
      <dsp:txXfrm>
        <a:off x="21075" y="279597"/>
        <a:ext cx="4609981" cy="389580"/>
      </dsp:txXfrm>
    </dsp:sp>
    <dsp:sp modelId="{813561B5-7E03-413C-B83D-13D9A362345E}">
      <dsp:nvSpPr>
        <dsp:cNvPr id="0" name=""/>
        <dsp:cNvSpPr/>
      </dsp:nvSpPr>
      <dsp:spPr>
        <a:xfrm>
          <a:off x="0" y="690252"/>
          <a:ext cx="4652131" cy="4694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70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React</a:t>
          </a:r>
          <a:r>
            <a:rPr lang="en-IN" sz="1400" kern="1200" dirty="0"/>
            <a:t> – Used for the </a:t>
          </a:r>
          <a:r>
            <a:rPr lang="en-IN" sz="1400" b="1" kern="1200" dirty="0"/>
            <a:t>production-level kiosk interface.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FastAPI</a:t>
          </a:r>
          <a:r>
            <a:rPr lang="en-IN" sz="1400" kern="1200" dirty="0"/>
            <a:t> – Backend framework for </a:t>
          </a:r>
          <a:r>
            <a:rPr lang="en-IN" sz="1400" b="1" kern="1200" dirty="0"/>
            <a:t>handling API requests</a:t>
          </a:r>
          <a:r>
            <a:rPr lang="en-IN" sz="1400" kern="1200" dirty="0"/>
            <a:t> and coordinating verification processes.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PassportEye</a:t>
          </a:r>
          <a:r>
            <a:rPr lang="en-IN" sz="1400" kern="1200" dirty="0"/>
            <a:t> – Extracts and parses </a:t>
          </a:r>
          <a:r>
            <a:rPr lang="en-IN" sz="1400" b="1" kern="1200" dirty="0"/>
            <a:t>passport MRZ information.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PyTesseract</a:t>
          </a:r>
          <a:r>
            <a:rPr lang="en-IN" sz="1400" kern="1200" dirty="0"/>
            <a:t> – </a:t>
          </a:r>
          <a:r>
            <a:rPr lang="en-IN" sz="1400" b="1" kern="1200" dirty="0"/>
            <a:t>Performs OCR </a:t>
          </a:r>
          <a:r>
            <a:rPr lang="en-IN" sz="1400" kern="1200" dirty="0"/>
            <a:t>to extract text from documents.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MobileNetV2</a:t>
          </a:r>
          <a:r>
            <a:rPr lang="en-IN" sz="1400" kern="1200" dirty="0"/>
            <a:t> – </a:t>
          </a:r>
          <a:r>
            <a:rPr lang="en-IN" sz="1400" b="1" kern="1200" dirty="0"/>
            <a:t>Lightweight CNN </a:t>
          </a:r>
          <a:r>
            <a:rPr lang="en-IN" sz="1400" kern="1200" dirty="0"/>
            <a:t>used for image classification and tamper analysis.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Anti-Spoofing CNN</a:t>
          </a:r>
          <a:r>
            <a:rPr lang="en-IN" sz="1400" kern="1200" dirty="0">
              <a:solidFill>
                <a:srgbClr val="0070C0"/>
              </a:solidFill>
            </a:rPr>
            <a:t> </a:t>
          </a:r>
          <a:r>
            <a:rPr lang="en-IN" sz="1400" kern="1200" dirty="0"/>
            <a:t>– Performs </a:t>
          </a:r>
          <a:r>
            <a:rPr lang="en-IN" sz="1400" b="1" kern="1200" dirty="0"/>
            <a:t>face liveness detection </a:t>
          </a:r>
          <a:r>
            <a:rPr lang="en-IN" sz="1400" kern="1200" dirty="0"/>
            <a:t>to identify real users vs. presentation attacks.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DeepFace</a:t>
          </a:r>
          <a:r>
            <a:rPr lang="en-IN" sz="1400" kern="1200" dirty="0"/>
            <a:t> – Framework used </a:t>
          </a:r>
          <a:r>
            <a:rPr lang="en-IN" sz="1400" b="1" kern="1200" dirty="0"/>
            <a:t>for face analysis and verification</a:t>
          </a:r>
          <a:r>
            <a:rPr lang="en-IN" sz="1400" b="0" kern="1200" dirty="0"/>
            <a:t>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ArcFace</a:t>
          </a:r>
          <a:r>
            <a:rPr lang="en-IN" sz="1400" kern="1200" dirty="0"/>
            <a:t> – Generates </a:t>
          </a:r>
          <a:r>
            <a:rPr lang="en-IN" sz="1400" b="1" kern="1200" dirty="0"/>
            <a:t>face embeddings </a:t>
          </a:r>
          <a:r>
            <a:rPr lang="en-IN" sz="1400" kern="1200" dirty="0"/>
            <a:t>and performs face matching.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PostgreSQL</a:t>
          </a:r>
          <a:r>
            <a:rPr lang="en-IN" sz="1400" kern="1200" dirty="0"/>
            <a:t> – Stores </a:t>
          </a:r>
          <a:r>
            <a:rPr lang="en-IN" sz="1400" b="1" kern="1200" dirty="0"/>
            <a:t>verification results and audit logs.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Redis</a:t>
          </a:r>
          <a:r>
            <a:rPr lang="en-IN" sz="1400" kern="1200" dirty="0"/>
            <a:t> – Provides fast </a:t>
          </a:r>
          <a:r>
            <a:rPr lang="en-IN" sz="1400" b="1" kern="1200" dirty="0"/>
            <a:t>session and result caching.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Document Scanner/Webcam</a:t>
          </a:r>
          <a:r>
            <a:rPr lang="en-IN" sz="1400" kern="1200" dirty="0">
              <a:solidFill>
                <a:srgbClr val="0070C0"/>
              </a:solidFill>
            </a:rPr>
            <a:t> </a:t>
          </a:r>
          <a:r>
            <a:rPr lang="en-IN" sz="1400" kern="1200" dirty="0"/>
            <a:t>– Captures </a:t>
          </a:r>
          <a:r>
            <a:rPr lang="en-IN" sz="1400" b="1" kern="1200" dirty="0"/>
            <a:t>identity documents and facial images.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b="1" kern="1200" dirty="0">
              <a:solidFill>
                <a:srgbClr val="0070C0"/>
              </a:solidFill>
            </a:rPr>
            <a:t>NUC-class Edge Box</a:t>
          </a:r>
          <a:r>
            <a:rPr lang="en-IN" sz="1400" kern="1200" dirty="0">
              <a:solidFill>
                <a:srgbClr val="0070C0"/>
              </a:solidFill>
            </a:rPr>
            <a:t> </a:t>
          </a:r>
          <a:r>
            <a:rPr lang="en-IN" sz="1400" kern="1200" dirty="0"/>
            <a:t>– </a:t>
          </a:r>
          <a:r>
            <a:rPr lang="en-IN" sz="1400" b="1" kern="1200" dirty="0"/>
            <a:t>Runs OCR</a:t>
          </a:r>
          <a:r>
            <a:rPr lang="en-IN" sz="1400" kern="1200" dirty="0"/>
            <a:t>, tamper detection, and liveness processing locally </a:t>
          </a:r>
          <a:r>
            <a:rPr lang="en-IN" sz="1400" b="1" kern="1200" dirty="0"/>
            <a:t>when connectivity is limited.</a:t>
          </a:r>
        </a:p>
      </dsp:txBody>
      <dsp:txXfrm>
        <a:off x="0" y="690252"/>
        <a:ext cx="4652131" cy="4694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A5908-06C1-4E8B-8793-1CE5CA6E5EA2}">
      <dsp:nvSpPr>
        <dsp:cNvPr id="0" name=""/>
        <dsp:cNvSpPr/>
      </dsp:nvSpPr>
      <dsp:spPr>
        <a:xfrm rot="10800000">
          <a:off x="1334586" y="0"/>
          <a:ext cx="4267265" cy="1032851"/>
        </a:xfrm>
        <a:prstGeom prst="homePlate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459" tIns="45720" rIns="85344" bIns="457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TECHNICAL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Uses open-source, CPU-friendly models with functional Colab prototypes (P1, P2, P4) ready; technical effort focuses only on integration and liveness selection</a:t>
          </a:r>
          <a:r>
            <a:rPr lang="en-IN" sz="1100" b="1" kern="1200" dirty="0"/>
            <a:t>.</a:t>
          </a:r>
        </a:p>
      </dsp:txBody>
      <dsp:txXfrm rot="10800000">
        <a:off x="1592799" y="0"/>
        <a:ext cx="4009052" cy="1032851"/>
      </dsp:txXfrm>
    </dsp:sp>
    <dsp:sp modelId="{F6FB7852-4095-4015-9D9B-DD8BDA4DDE1D}">
      <dsp:nvSpPr>
        <dsp:cNvPr id="0" name=""/>
        <dsp:cNvSpPr/>
      </dsp:nvSpPr>
      <dsp:spPr>
        <a:xfrm>
          <a:off x="816624" y="237"/>
          <a:ext cx="1032851" cy="1032851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4512A-630B-4EA0-8FF4-F7C565B23514}">
      <dsp:nvSpPr>
        <dsp:cNvPr id="0" name=""/>
        <dsp:cNvSpPr/>
      </dsp:nvSpPr>
      <dsp:spPr>
        <a:xfrm rot="10800000">
          <a:off x="1333050" y="1341402"/>
          <a:ext cx="4267265" cy="1032851"/>
        </a:xfrm>
        <a:prstGeom prst="homePlate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459" tIns="45720" rIns="85344" bIns="457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FINANCIAL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Open-source stack eliminates recurring inference fees, restricting costs to pre-budgeted, one-time edge hardware purchases (</a:t>
          </a:r>
          <a:r>
            <a:rPr lang="en-IN" sz="1200" b="1" kern="1200" baseline="0" dirty="0"/>
            <a:t>CapEx</a:t>
          </a:r>
          <a:r>
            <a:rPr lang="en-IN" sz="1200" b="1" kern="1200" dirty="0"/>
            <a:t>).</a:t>
          </a:r>
        </a:p>
      </dsp:txBody>
      <dsp:txXfrm rot="10800000">
        <a:off x="1591263" y="1341402"/>
        <a:ext cx="4009052" cy="1032851"/>
      </dsp:txXfrm>
    </dsp:sp>
    <dsp:sp modelId="{28E913D0-34A4-45C1-9FFA-201C2CA59CA2}">
      <dsp:nvSpPr>
        <dsp:cNvPr id="0" name=""/>
        <dsp:cNvSpPr/>
      </dsp:nvSpPr>
      <dsp:spPr>
        <a:xfrm>
          <a:off x="816624" y="1341402"/>
          <a:ext cx="1032851" cy="1032851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95BF2-E5FE-4DB9-80A3-9B3781963D93}">
      <dsp:nvSpPr>
        <dsp:cNvPr id="0" name=""/>
        <dsp:cNvSpPr/>
      </dsp:nvSpPr>
      <dsp:spPr>
        <a:xfrm rot="10800000">
          <a:off x="1309110" y="2666993"/>
          <a:ext cx="4267265" cy="1032851"/>
        </a:xfrm>
        <a:prstGeom prst="homePlate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459" tIns="45720" rIns="85344" bIns="457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MARKET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Tailor-made for border checkpoints to directly address SSB’s operational problem statement, eliminating market demand uncertainty.</a:t>
          </a:r>
        </a:p>
      </dsp:txBody>
      <dsp:txXfrm rot="10800000">
        <a:off x="1567323" y="2666993"/>
        <a:ext cx="4009052" cy="1032851"/>
      </dsp:txXfrm>
    </dsp:sp>
    <dsp:sp modelId="{D9D127C2-2F97-4438-814E-BE59FE6F2992}">
      <dsp:nvSpPr>
        <dsp:cNvPr id="0" name=""/>
        <dsp:cNvSpPr/>
      </dsp:nvSpPr>
      <dsp:spPr>
        <a:xfrm>
          <a:off x="816624" y="2682568"/>
          <a:ext cx="1032851" cy="1032851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84F66-3075-4356-BCEA-575233874EAE}">
      <dsp:nvSpPr>
        <dsp:cNvPr id="0" name=""/>
        <dsp:cNvSpPr/>
      </dsp:nvSpPr>
      <dsp:spPr>
        <a:xfrm rot="10800000">
          <a:off x="1333050" y="4023971"/>
          <a:ext cx="4267265" cy="103285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459" tIns="45720" rIns="85344" bIns="457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OPERATIONAL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Runs offline at edge-first checkpoints to prevent downtime, needing only periodic model threshold updates using deployment data..</a:t>
          </a:r>
          <a:r>
            <a:rPr lang="en-IN" sz="1100" b="1" kern="1200" dirty="0"/>
            <a:t>		</a:t>
          </a:r>
        </a:p>
      </dsp:txBody>
      <dsp:txXfrm rot="10800000">
        <a:off x="1591263" y="4023971"/>
        <a:ext cx="4009052" cy="1032851"/>
      </dsp:txXfrm>
    </dsp:sp>
    <dsp:sp modelId="{C8958A75-6220-4936-BC2C-76606249C3A6}">
      <dsp:nvSpPr>
        <dsp:cNvPr id="0" name=""/>
        <dsp:cNvSpPr/>
      </dsp:nvSpPr>
      <dsp:spPr>
        <a:xfrm>
          <a:off x="816624" y="4023733"/>
          <a:ext cx="1032851" cy="1032851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88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87wKLJ31t4hHi2q5HNQac-npeEtwQr4n/view?usp=sharin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6.png"/><Relationship Id="rId10" Type="http://schemas.microsoft.com/office/2007/relationships/diagramDrawing" Target="../diagrams/drawing1.xml"/><Relationship Id="rId4" Type="http://schemas.openxmlformats.org/officeDocument/2006/relationships/image" Target="../media/image5.pn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erengil/deepface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blackhat.com/presentations/bh-dc-07/Krawetz/Paper/bh-dc-07-Krawetz-WP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905.00641" TargetMode="External"/><Relationship Id="rId5" Type="http://schemas.openxmlformats.org/officeDocument/2006/relationships/hyperlink" Target="https://arxiv.org/abs/1801.07698" TargetMode="External"/><Relationship Id="rId4" Type="http://schemas.openxmlformats.org/officeDocument/2006/relationships/hyperlink" Target="https://www.icao.int/publications/pages/publication.aspx?docnum=9303" TargetMode="External"/><Relationship Id="rId9" Type="http://schemas.openxmlformats.org/officeDocument/2006/relationships/hyperlink" Target="https://arxiv.org/abs/1807.0578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288158"/>
            <a:ext cx="5924550" cy="430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SIH26188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AI-Based Fake Identity &amp; Document Screening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ZYNTRIX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44644" y="6423817"/>
            <a:ext cx="284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2603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@SIH Idea submission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3B8359-C117-60DA-8B5B-D6885F3D9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9715" y="1590892"/>
            <a:ext cx="5920963" cy="45907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4AD115-4B6F-11F5-BCD0-809CB0AA00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31667" y="1210582"/>
            <a:ext cx="4923559" cy="15289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A84B37-D12F-D931-4E8A-79D94CB5E781}"/>
              </a:ext>
            </a:extLst>
          </p:cNvPr>
          <p:cNvSpPr txBox="1"/>
          <p:nvPr/>
        </p:nvSpPr>
        <p:spPr>
          <a:xfrm>
            <a:off x="106411" y="1076875"/>
            <a:ext cx="30525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0070C0"/>
                </a:solidFill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US" dirty="0"/>
              <a:t>Sophisticated document forgery poses critical security risks at land-border checkpoints that rely on manual verification.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AB6A1F-0732-7CE7-1EBA-3899927F7FA9}"/>
              </a:ext>
            </a:extLst>
          </p:cNvPr>
          <p:cNvSpPr txBox="1"/>
          <p:nvPr/>
        </p:nvSpPr>
        <p:spPr>
          <a:xfrm>
            <a:off x="104561" y="2744768"/>
            <a:ext cx="31894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0070C0"/>
                </a:solidFill>
              </a:rPr>
              <a:t> Our Idea: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SentinelID</a:t>
            </a:r>
            <a:r>
              <a:rPr lang="en-IN" dirty="0"/>
              <a:t> is an </a:t>
            </a:r>
            <a:r>
              <a:rPr lang="en-IN" b="1" dirty="0"/>
              <a:t>AI-powered border document screening platform </a:t>
            </a:r>
            <a:r>
              <a:rPr lang="en-IN" dirty="0"/>
              <a:t>that validates documents instantly against official databases.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replaces manual guesswork </a:t>
            </a:r>
            <a:r>
              <a:rPr lang="en-IN" b="1" dirty="0"/>
              <a:t>with multi-layered forensic analysis</a:t>
            </a:r>
            <a:r>
              <a:rPr lang="en-IN" dirty="0"/>
              <a:t>, identifying physical and digital tampering invisibly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F5A122-8BB9-7435-070C-CAC0DC565897}"/>
              </a:ext>
            </a:extLst>
          </p:cNvPr>
          <p:cNvSpPr txBox="1"/>
          <p:nvPr/>
        </p:nvSpPr>
        <p:spPr>
          <a:xfrm>
            <a:off x="3165882" y="2801920"/>
            <a:ext cx="54473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0070C0"/>
                </a:solidFill>
              </a:rPr>
              <a:t>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Our automated system streamlines identity verification by performing advanced sequence checks on every submitted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platform scans the ID </a:t>
            </a:r>
            <a:r>
              <a:rPr lang="en-IN" b="1" dirty="0"/>
              <a:t>using high-accuracy OCR </a:t>
            </a:r>
            <a:r>
              <a:rPr lang="en-IN" dirty="0"/>
              <a:t>for database validation, followed by strict forensic tampering detection and AI-driven face verification against a live selfie.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Ultimately, all findings are consolidated to </a:t>
            </a:r>
            <a:r>
              <a:rPr lang="en-IN" b="1" dirty="0"/>
              <a:t>output a real-time Risk Score (0-100) complete with explainable evidence highlights</a:t>
            </a:r>
            <a:r>
              <a:rPr lang="en-IN" dirty="0"/>
              <a:t> that clearly flag any anomalies for manual reviewers.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1E5738-CA59-11DD-988A-74D3318B9F9F}"/>
              </a:ext>
            </a:extLst>
          </p:cNvPr>
          <p:cNvSpPr txBox="1"/>
          <p:nvPr/>
        </p:nvSpPr>
        <p:spPr>
          <a:xfrm>
            <a:off x="8542091" y="1231897"/>
            <a:ext cx="364990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0070C0"/>
                </a:solidFill>
              </a:rPr>
              <a:t>Innovations/Uniqueness: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Explainable AI overlays:</a:t>
            </a:r>
          </a:p>
          <a:p>
            <a:r>
              <a:rPr lang="en-IN" b="1" dirty="0"/>
              <a:t> </a:t>
            </a:r>
            <a:r>
              <a:rPr lang="en-IN" dirty="0"/>
              <a:t>Grad-CAM / Error Level Analysis heatmaps.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Two-factor forensic proof:</a:t>
            </a:r>
          </a:p>
          <a:p>
            <a:r>
              <a:rPr lang="en-IN" dirty="0"/>
              <a:t> visual tampering detection layered with EXIF/metadata and noise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Offline-capable edge inference</a:t>
            </a:r>
          </a:p>
          <a:p>
            <a:r>
              <a:rPr lang="en-IN" dirty="0"/>
              <a:t>for checkpoints with poor connectivity.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Fuzzy watchlist matching:</a:t>
            </a:r>
          </a:p>
          <a:p>
            <a:r>
              <a:rPr lang="en-IN" dirty="0"/>
              <a:t> handles transliteration variants of names.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Hash-chained audit trail </a:t>
            </a:r>
            <a:r>
              <a:rPr lang="en-IN" dirty="0"/>
              <a:t>for</a:t>
            </a:r>
          </a:p>
          <a:p>
            <a:r>
              <a:rPr lang="en-IN" dirty="0"/>
              <a:t>investigations, tying into the Blockchain &amp; Cybersecurity theme.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CE457C-7149-C84D-0663-B70DD7C3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 : SENTINELID</a:t>
            </a:r>
            <a:endParaRPr lang="en-IN" sz="3600" dirty="0"/>
          </a:p>
        </p:txBody>
      </p:sp>
      <p:sp>
        <p:nvSpPr>
          <p:cNvPr id="17" name="Oval 16" descr="Your startup LOGO">
            <a:extLst>
              <a:ext uri="{FF2B5EF4-FFF2-40B4-BE49-F238E27FC236}">
                <a16:creationId xmlns:a16="http://schemas.microsoft.com/office/drawing/2014/main" id="{5100A720-DD99-3F8C-3DA5-028EDFD1F1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4097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ZYNTRIX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85E046-9222-68DA-6DC0-581B492EAA58}"/>
              </a:ext>
            </a:extLst>
          </p:cNvPr>
          <p:cNvSpPr txBox="1"/>
          <p:nvPr/>
        </p:nvSpPr>
        <p:spPr>
          <a:xfrm>
            <a:off x="3302413" y="790594"/>
            <a:ext cx="5587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Fake Identity &amp; Document Screening System</a:t>
            </a:r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933394-11EB-9604-B11F-F5EEDA7CFD7D}"/>
              </a:ext>
            </a:extLst>
          </p:cNvPr>
          <p:cNvGrpSpPr/>
          <p:nvPr/>
        </p:nvGrpSpPr>
        <p:grpSpPr>
          <a:xfrm>
            <a:off x="482540" y="5805576"/>
            <a:ext cx="2300311" cy="503238"/>
            <a:chOff x="482540" y="5797296"/>
            <a:chExt cx="2300311" cy="5032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1729DF-8C08-0B80-A224-AF5C8BAC1D50}"/>
                </a:ext>
              </a:extLst>
            </p:cNvPr>
            <p:cNvSpPr/>
            <p:nvPr/>
          </p:nvSpPr>
          <p:spPr>
            <a:xfrm>
              <a:off x="482540" y="5797296"/>
              <a:ext cx="2300311" cy="50323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02DDD45-1F79-C549-81F5-626A8EEEB88E}"/>
                </a:ext>
              </a:extLst>
            </p:cNvPr>
            <p:cNvSpPr txBox="1"/>
            <p:nvPr/>
          </p:nvSpPr>
          <p:spPr>
            <a:xfrm>
              <a:off x="609600" y="5844496"/>
              <a:ext cx="1830950" cy="40011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b="1" dirty="0">
                  <a:solidFill>
                    <a:srgbClr val="EA580C"/>
                  </a:solidFill>
                </a:rPr>
                <a:t>DEMO:</a:t>
              </a:r>
              <a:r>
                <a:rPr lang="en-IN" sz="2000" b="1" dirty="0">
                  <a:solidFill>
                    <a:srgbClr val="EA580C"/>
                  </a:solidFill>
                </a:rPr>
                <a:t> </a:t>
              </a:r>
              <a:r>
                <a:rPr lang="en-IN" sz="2000" b="1" u="sng" dirty="0">
                  <a:hlinkClick r:id="rId6"/>
                </a:rPr>
                <a:t>LINK</a:t>
              </a:r>
              <a:endParaRPr lang="en-IN" b="1" u="sng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`								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17032" y="117916"/>
            <a:ext cx="10972800" cy="80733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3191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ZYNTRIX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33858E-F052-1915-5C0A-08C5D699CF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852" y="1112024"/>
            <a:ext cx="5152516" cy="515251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8DAAF6C-72EA-ED08-6EE4-1B15A5243317}"/>
              </a:ext>
            </a:extLst>
          </p:cNvPr>
          <p:cNvGrpSpPr/>
          <p:nvPr/>
        </p:nvGrpSpPr>
        <p:grpSpPr>
          <a:xfrm>
            <a:off x="-44843" y="1080615"/>
            <a:ext cx="2789546" cy="4974049"/>
            <a:chOff x="22269" y="1080615"/>
            <a:chExt cx="2789546" cy="49740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DFCDAD-33E6-B73B-C9C8-AF396245D95C}"/>
                </a:ext>
              </a:extLst>
            </p:cNvPr>
            <p:cNvSpPr txBox="1">
              <a:spLocks/>
            </p:cNvSpPr>
            <p:nvPr/>
          </p:nvSpPr>
          <p:spPr>
            <a:xfrm>
              <a:off x="22269" y="1080615"/>
              <a:ext cx="2789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WORKFLOW</a:t>
              </a:r>
              <a:r>
                <a:rPr lang="en-US" b="1" dirty="0"/>
                <a:t> 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PIPELINE</a:t>
              </a:r>
              <a:endPara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9BE3EA8-99FD-260D-C401-6AC97ED8A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346" t="5584" r="5709" b="5049"/>
            <a:stretch>
              <a:fillRect/>
            </a:stretch>
          </p:blipFill>
          <p:spPr>
            <a:xfrm>
              <a:off x="177889" y="1449947"/>
              <a:ext cx="2205466" cy="4604717"/>
            </a:xfrm>
            <a:prstGeom prst="rect">
              <a:avLst/>
            </a:prstGeom>
          </p:spPr>
        </p:pic>
      </p:grp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BE9636B-60F7-A89D-E381-54DEDB3C14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2862497"/>
              </p:ext>
            </p:extLst>
          </p:nvPr>
        </p:nvGraphicFramePr>
        <p:xfrm>
          <a:off x="7529759" y="890333"/>
          <a:ext cx="4652132" cy="5643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B269D66-BA8F-D377-30D0-66D277C0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4644" y="6423817"/>
            <a:ext cx="284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639B77AE-157D-5E54-9106-040BB837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2603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@SIH Idea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7777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9773" y="252246"/>
            <a:ext cx="148224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ZYNTRIX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5ECCB-9412-894E-F93B-F013A6F788F3}"/>
              </a:ext>
            </a:extLst>
          </p:cNvPr>
          <p:cNvSpPr txBox="1">
            <a:spLocks/>
          </p:cNvSpPr>
          <p:nvPr/>
        </p:nvSpPr>
        <p:spPr>
          <a:xfrm>
            <a:off x="1657376" y="892812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FEASIBILITY ANALYSIS</a:t>
            </a:r>
            <a:endParaRPr lang="en-IN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465DD5C7-1361-95AA-2C96-685502DD19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0247226"/>
              </p:ext>
            </p:extLst>
          </p:nvPr>
        </p:nvGraphicFramePr>
        <p:xfrm>
          <a:off x="-665288" y="1262143"/>
          <a:ext cx="6416940" cy="5056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10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D2BC14-605C-D9AC-946D-8E10BD18CD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rcRect l="2179" t="1007" r="1730" b="2752"/>
          <a:stretch>
            <a:fillRect/>
          </a:stretch>
        </p:blipFill>
        <p:spPr>
          <a:xfrm>
            <a:off x="5110751" y="1095375"/>
            <a:ext cx="6919185" cy="525299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F26B7D-6D81-4F13-F3A0-A5BF0BC3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4644" y="6423817"/>
            <a:ext cx="284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FCA176C-3725-0D2C-55A6-C988FB16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2603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@SIH Idea submission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71" y="636438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AT A GLANCE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3191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ZYNTRIX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9C11225-C712-D98B-16A1-DD9496581235}"/>
              </a:ext>
            </a:extLst>
          </p:cNvPr>
          <p:cNvGrpSpPr/>
          <p:nvPr/>
        </p:nvGrpSpPr>
        <p:grpSpPr>
          <a:xfrm>
            <a:off x="31878" y="1063837"/>
            <a:ext cx="6094602" cy="4971166"/>
            <a:chOff x="438324" y="1077309"/>
            <a:chExt cx="6094602" cy="497116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FBF1514-FE11-9FBD-1F11-2961B73D985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8324" y="1077309"/>
              <a:ext cx="6094602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1400" b="1" dirty="0">
                  <a:solidFill>
                    <a:srgbClr val="0070C0"/>
                  </a:solidFill>
                  <a:effectLst/>
                  <a:latin typeface="Calibri" pitchFamily="34" charset="0"/>
                </a:rPr>
                <a:t>Direct Impact on Target Users</a:t>
              </a:r>
              <a:endParaRPr lang="en-IN" sz="1400" dirty="0">
                <a:solidFill>
                  <a:srgbClr val="0070C0"/>
                </a:solidFill>
                <a:effectLst/>
                <a:latin typeface="Calibri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1400" b="1" dirty="0">
                  <a:effectLst/>
                  <a:latin typeface="Calibri" pitchFamily="34" charset="0"/>
                </a:rPr>
                <a:t>Instant Decision Support:</a:t>
              </a:r>
              <a:r>
                <a:rPr lang="en-IN" sz="1400" dirty="0">
                  <a:effectLst/>
                  <a:latin typeface="Calibri" pitchFamily="34" charset="0"/>
                </a:rPr>
                <a:t> Collapses document verification time from minutes down to </a:t>
              </a:r>
              <a:r>
                <a:rPr lang="en-IN" sz="1400" b="1" dirty="0">
                  <a:effectLst/>
                  <a:latin typeface="Calibri" pitchFamily="34" charset="0"/>
                </a:rPr>
                <a:t>double-digit seconds</a:t>
              </a:r>
              <a:r>
                <a:rPr lang="en-IN" sz="1400" dirty="0">
                  <a:effectLst/>
                  <a:latin typeface="Calibri" pitchFamily="34" charset="0"/>
                </a:rPr>
                <a:t>, drastically cutting </a:t>
              </a:r>
              <a:r>
                <a:rPr lang="en-IN" sz="1400" b="1" dirty="0">
                  <a:effectLst/>
                  <a:latin typeface="Calibri" pitchFamily="34" charset="0"/>
                </a:rPr>
                <a:t>checkpoint processing delay.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1400" b="1" dirty="0">
                  <a:effectLst/>
                  <a:latin typeface="Calibri" pitchFamily="34" charset="0"/>
                </a:rPr>
                <a:t>Fatigue &amp; Error Reduction:</a:t>
              </a:r>
              <a:r>
                <a:rPr lang="en-IN" sz="1400" dirty="0">
                  <a:effectLst/>
                  <a:latin typeface="Calibri" pitchFamily="34" charset="0"/>
                </a:rPr>
                <a:t> Replaces stressful manual text-reading and photo-eyeballing with concurrent AI processing, </a:t>
              </a:r>
              <a:r>
                <a:rPr lang="en-IN" sz="1400" b="1" dirty="0">
                  <a:effectLst/>
                  <a:latin typeface="Calibri" pitchFamily="34" charset="0"/>
                </a:rPr>
                <a:t>mitigating fatigue-induced mistakes.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1400" b="1" dirty="0">
                  <a:effectLst/>
                  <a:latin typeface="Calibri" pitchFamily="34" charset="0"/>
                </a:rPr>
                <a:t>Standardized Inspection:</a:t>
              </a:r>
              <a:r>
                <a:rPr lang="en-IN" sz="1400" dirty="0">
                  <a:effectLst/>
                  <a:latin typeface="Calibri" pitchFamily="34" charset="0"/>
                </a:rPr>
                <a:t> Delivers a structured </a:t>
              </a:r>
              <a:r>
                <a:rPr lang="en-IN" sz="1400" b="1" dirty="0">
                  <a:effectLst/>
                  <a:latin typeface="Calibri" pitchFamily="34" charset="0"/>
                </a:rPr>
                <a:t>PASS / REVIEW / FAIL </a:t>
              </a:r>
              <a:r>
                <a:rPr lang="en-IN" sz="1400" dirty="0">
                  <a:effectLst/>
                  <a:latin typeface="Calibri" pitchFamily="34" charset="0"/>
                </a:rPr>
                <a:t>risk score, eliminating subjective guesswork and variance across officers or shifts.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1400" b="1" dirty="0">
                  <a:effectLst/>
                  <a:latin typeface="Calibri" pitchFamily="34" charset="0"/>
                </a:rPr>
                <a:t>Zero-Spoof Protection:</a:t>
              </a:r>
              <a:r>
                <a:rPr lang="en-IN" sz="1400" dirty="0">
                  <a:effectLst/>
                  <a:latin typeface="Calibri" pitchFamily="34" charset="0"/>
                </a:rPr>
                <a:t> Enforces a mandatory </a:t>
              </a:r>
              <a:r>
                <a:rPr lang="en-IN" sz="1400" b="1" dirty="0">
                  <a:effectLst/>
                  <a:latin typeface="Calibri" pitchFamily="34" charset="0"/>
                </a:rPr>
                <a:t>"Liveness Gate" </a:t>
              </a:r>
              <a:r>
                <a:rPr lang="en-IN" sz="1400" dirty="0">
                  <a:effectLst/>
                  <a:latin typeface="Calibri" pitchFamily="34" charset="0"/>
                </a:rPr>
                <a:t>that halts verification if a live person is not present, protecting officers from </a:t>
              </a:r>
              <a:r>
                <a:rPr lang="en-IN" sz="1400" b="1" dirty="0">
                  <a:effectLst/>
                  <a:latin typeface="Calibri" pitchFamily="34" charset="0"/>
                </a:rPr>
                <a:t>printed-photo or screen-replay tricks. </a:t>
              </a:r>
              <a:endParaRPr lang="en-IN" sz="1400" b="1" dirty="0">
                <a:effectLst/>
                <a:latin typeface="Google Sans Tex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FE98BD-D598-363A-68D8-E332B496A6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8324" y="3801706"/>
              <a:ext cx="6094602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1400" b="1" dirty="0">
                  <a:solidFill>
                    <a:srgbClr val="0070C0"/>
                  </a:solidFill>
                  <a:effectLst/>
                  <a:latin typeface="Calibri" pitchFamily="34" charset="0"/>
                </a:rPr>
                <a:t>Strategic Impact</a:t>
              </a:r>
              <a:endParaRPr lang="en-IN" sz="1400" dirty="0">
                <a:solidFill>
                  <a:srgbClr val="0070C0"/>
                </a:solidFill>
                <a:effectLst/>
                <a:latin typeface="Calibri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1400" b="1" dirty="0">
                  <a:effectLst/>
                  <a:latin typeface="Calibri" pitchFamily="34" charset="0"/>
                </a:rPr>
                <a:t>Invisible Threat Detection:</a:t>
              </a:r>
              <a:r>
                <a:rPr lang="en-IN" sz="1400" dirty="0">
                  <a:effectLst/>
                  <a:latin typeface="Calibri" pitchFamily="34" charset="0"/>
                </a:rPr>
                <a:t> Uncovers subtle digital tampering—such as </a:t>
              </a:r>
              <a:r>
                <a:rPr lang="en-IN" sz="1400" b="1" dirty="0">
                  <a:effectLst/>
                  <a:latin typeface="Calibri" pitchFamily="34" charset="0"/>
                </a:rPr>
                <a:t>swapped photos, modified birth dates, or forged stamps</a:t>
              </a:r>
              <a:r>
                <a:rPr lang="en-IN" sz="1400" dirty="0">
                  <a:effectLst/>
                  <a:latin typeface="Calibri" pitchFamily="34" charset="0"/>
                </a:rPr>
                <a:t>—invisible to the naked eye.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1400" b="1" dirty="0">
                  <a:effectLst/>
                  <a:latin typeface="Calibri" pitchFamily="34" charset="0"/>
                </a:rPr>
                <a:t>Resilient Edge Deployment:</a:t>
              </a:r>
              <a:r>
                <a:rPr lang="en-IN" sz="1400" dirty="0">
                  <a:effectLst/>
                  <a:latin typeface="Calibri" pitchFamily="34" charset="0"/>
                </a:rPr>
                <a:t> Operates continuously at </a:t>
              </a:r>
              <a:r>
                <a:rPr lang="en-IN" sz="1400" b="1" dirty="0">
                  <a:effectLst/>
                  <a:latin typeface="Calibri" pitchFamily="34" charset="0"/>
                </a:rPr>
                <a:t>low-connectivity border posts </a:t>
              </a:r>
              <a:r>
                <a:rPr lang="en-IN" sz="1400" dirty="0">
                  <a:effectLst/>
                  <a:latin typeface="Calibri" pitchFamily="34" charset="0"/>
                </a:rPr>
                <a:t>without central network dependence, syncing audit logs automatically when connection restores.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1400" b="1" dirty="0">
                  <a:effectLst/>
                  <a:latin typeface="Calibri" pitchFamily="34" charset="0"/>
                </a:rPr>
                <a:t>Actionable Intelligence Pipeline:</a:t>
              </a:r>
              <a:r>
                <a:rPr lang="en-IN" sz="1400" dirty="0">
                  <a:effectLst/>
                  <a:latin typeface="Calibri" pitchFamily="34" charset="0"/>
                </a:rPr>
                <a:t> Converts routine, temporary border decisions into </a:t>
              </a:r>
              <a:r>
                <a:rPr lang="en-IN" sz="1400" b="1" dirty="0">
                  <a:effectLst/>
                  <a:latin typeface="Calibri" pitchFamily="34" charset="0"/>
                </a:rPr>
                <a:t>structured digital audit trails </a:t>
              </a:r>
              <a:r>
                <a:rPr lang="en-IN" sz="1400" dirty="0">
                  <a:effectLst/>
                  <a:latin typeface="Calibri" pitchFamily="34" charset="0"/>
                </a:rPr>
                <a:t>with sub-scores for downstream criminal investigations. </a:t>
              </a:r>
              <a:endParaRPr lang="en-IN" sz="1400" dirty="0">
                <a:effectLst/>
                <a:latin typeface="Google Sans Text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687ABEF-A160-1761-A020-A817D6518183}"/>
              </a:ext>
            </a:extLst>
          </p:cNvPr>
          <p:cNvSpPr txBox="1"/>
          <p:nvPr/>
        </p:nvSpPr>
        <p:spPr>
          <a:xfrm>
            <a:off x="6095999" y="1054513"/>
            <a:ext cx="60946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0070C0"/>
                </a:solidFill>
                <a:effectLst/>
                <a:latin typeface="Calibri" pitchFamily="34" charset="0"/>
              </a:rPr>
              <a:t>Economic &amp; Operational Benefits</a:t>
            </a:r>
            <a:endParaRPr lang="en-IN" sz="1400" dirty="0">
              <a:solidFill>
                <a:srgbClr val="0070C0"/>
              </a:solidFill>
              <a:effectLst/>
              <a:latin typeface="Calibri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  <a:latin typeface="Calibri" pitchFamily="34" charset="0"/>
              </a:rPr>
              <a:t>Cost-Effective Scalability:</a:t>
            </a:r>
            <a:r>
              <a:rPr lang="en-IN" sz="1400" dirty="0">
                <a:effectLst/>
                <a:latin typeface="Calibri" pitchFamily="34" charset="0"/>
              </a:rPr>
              <a:t> Built on open-source AI frameworks to </a:t>
            </a:r>
            <a:r>
              <a:rPr lang="en-IN" sz="1400" b="1" dirty="0">
                <a:effectLst/>
                <a:latin typeface="Calibri" pitchFamily="34" charset="0"/>
              </a:rPr>
              <a:t>run locally on low-cost edge hardware,</a:t>
            </a:r>
            <a:r>
              <a:rPr lang="en-IN" sz="1400" dirty="0">
                <a:effectLst/>
                <a:latin typeface="Calibri" pitchFamily="34" charset="0"/>
              </a:rPr>
              <a:t> eliminating recurring per-scan API costs.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  <a:latin typeface="Calibri" pitchFamily="34" charset="0"/>
              </a:rPr>
              <a:t>Throughput Optimization:</a:t>
            </a:r>
            <a:r>
              <a:rPr lang="en-IN" sz="1400" dirty="0">
                <a:effectLst/>
                <a:latin typeface="Calibri" pitchFamily="34" charset="0"/>
              </a:rPr>
              <a:t> Maximize checkpoint capacity during </a:t>
            </a:r>
            <a:r>
              <a:rPr lang="en-IN" sz="1400" b="1" dirty="0">
                <a:effectLst/>
                <a:latin typeface="Calibri" pitchFamily="34" charset="0"/>
              </a:rPr>
              <a:t>peak traffic hours </a:t>
            </a:r>
            <a:r>
              <a:rPr lang="en-IN" sz="1400" dirty="0">
                <a:effectLst/>
                <a:latin typeface="Calibri" pitchFamily="34" charset="0"/>
              </a:rPr>
              <a:t>without requiring extra personnel or physical infrastructure.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  <a:latin typeface="Calibri" pitchFamily="34" charset="0"/>
              </a:rPr>
              <a:t>Cross-Domain Interoperability:</a:t>
            </a:r>
            <a:r>
              <a:rPr lang="en-IN" sz="1400" dirty="0">
                <a:effectLst/>
                <a:latin typeface="Calibri" pitchFamily="34" charset="0"/>
              </a:rPr>
              <a:t> Provides a flexible verification core easily expandable to broader national uses, including </a:t>
            </a:r>
            <a:r>
              <a:rPr lang="en-IN" sz="1400" b="1" dirty="0">
                <a:effectLst/>
                <a:latin typeface="Calibri" pitchFamily="34" charset="0"/>
              </a:rPr>
              <a:t>telecom onboarding and banking KYC checks.                          </a:t>
            </a:r>
            <a:endParaRPr lang="en-IN" sz="1400" b="1" dirty="0">
              <a:effectLst/>
              <a:latin typeface="Google Sans Text"/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4C884F0-437B-664D-B47E-8FDB6996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4644" y="6423817"/>
            <a:ext cx="284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4" name="Footer Placeholder 6">
            <a:extLst>
              <a:ext uri="{FF2B5EF4-FFF2-40B4-BE49-F238E27FC236}">
                <a16:creationId xmlns:a16="http://schemas.microsoft.com/office/drawing/2014/main" id="{173FAAA6-7FF5-3B25-9E4D-80375EF3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2603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@SIH Idea submission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CE1424F-8C39-EBB5-7368-5136BD09B8B4}"/>
              </a:ext>
            </a:extLst>
          </p:cNvPr>
          <p:cNvCxnSpPr>
            <a:cxnSpLocks/>
          </p:cNvCxnSpPr>
          <p:nvPr/>
        </p:nvCxnSpPr>
        <p:spPr>
          <a:xfrm>
            <a:off x="6070362" y="2943591"/>
            <a:ext cx="6120239" cy="1769"/>
          </a:xfrm>
          <a:prstGeom prst="straightConnector1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602862-4A0F-D2D4-9F18-A6B719EC291D}"/>
              </a:ext>
            </a:extLst>
          </p:cNvPr>
          <p:cNvCxnSpPr>
            <a:cxnSpLocks/>
          </p:cNvCxnSpPr>
          <p:nvPr/>
        </p:nvCxnSpPr>
        <p:spPr>
          <a:xfrm>
            <a:off x="6081879" y="2940271"/>
            <a:ext cx="2604" cy="34195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69E31D1-6E7D-1F61-5943-2C957452E0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075" y="2956559"/>
            <a:ext cx="6097800" cy="339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997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ZYNTRIX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B2869A-4339-12A4-88A4-6681D2EC3C36}"/>
              </a:ext>
            </a:extLst>
          </p:cNvPr>
          <p:cNvSpPr txBox="1">
            <a:spLocks/>
          </p:cNvSpPr>
          <p:nvPr/>
        </p:nvSpPr>
        <p:spPr>
          <a:xfrm>
            <a:off x="249025" y="1181536"/>
            <a:ext cx="5451566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600" b="1" kern="100" dirty="0">
                <a:solidFill>
                  <a:srgbClr val="0070C0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ICAO Standards (MRZ &amp; Identity Architecture):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Reference: International Civil Aviation Organization. (2021). Doc 9303: Machine Readable Travel Documents (8th ed.). ICAO, Montreal, Canada.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LINK</a:t>
            </a:r>
            <a:endParaRPr lang="en-IN" sz="110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18D2B-5FB1-AA8D-6ABC-FDFAE490BF5C}"/>
              </a:ext>
            </a:extLst>
          </p:cNvPr>
          <p:cNvSpPr txBox="1"/>
          <p:nvPr/>
        </p:nvSpPr>
        <p:spPr>
          <a:xfrm>
            <a:off x="235131" y="2720796"/>
            <a:ext cx="5390606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600" b="1" kern="100" dirty="0">
                <a:solidFill>
                  <a:srgbClr val="0070C0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ArcFace (Biometric Embeddings</a:t>
            </a:r>
            <a:r>
              <a:rPr lang="en-IN" sz="1600" kern="100" dirty="0">
                <a:solidFill>
                  <a:srgbClr val="0070C0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Reference: Deng,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J.,Guo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J., Xue, N., &amp; Zafeiriou, S.(2019). ArcFace: Additive Angular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MarginLoss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DeepFace Recognition. IEEE/CVF Conference on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ComputerVision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PatternRecognition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(CVPR), 4690–4699</a:t>
            </a:r>
            <a:endParaRPr lang="en-IN" sz="1400" kern="100" dirty="0">
              <a:latin typeface="Aptos Display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LINK</a:t>
            </a:r>
            <a:endParaRPr lang="en-IN" sz="140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2D807A-2722-A172-50D1-FF19856A7B68}"/>
              </a:ext>
            </a:extLst>
          </p:cNvPr>
          <p:cNvSpPr txBox="1"/>
          <p:nvPr/>
        </p:nvSpPr>
        <p:spPr>
          <a:xfrm>
            <a:off x="235131" y="4799524"/>
            <a:ext cx="505968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600" b="1" kern="100" dirty="0">
                <a:solidFill>
                  <a:srgbClr val="0070C0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RetinaFace (Robust Face Detection):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Reference: Deng, J., Guo, J.,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Ververas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E.,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Kotsia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I., &amp; Zafeiriou, S. (2020). RetinaFace: Single-Shot Multi-Level Face Localisation in the Wild. IEEE/CVF Conference on Computer Vision and Pattern Recognition (CVPR), 5203–5212. 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LINK</a:t>
            </a:r>
            <a:endParaRPr lang="en-IN" sz="140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D2B5D2-2880-DFAF-07EE-91ABD6A08346}"/>
              </a:ext>
            </a:extLst>
          </p:cNvPr>
          <p:cNvSpPr txBox="1"/>
          <p:nvPr/>
        </p:nvSpPr>
        <p:spPr>
          <a:xfrm>
            <a:off x="5689600" y="1179221"/>
            <a:ext cx="6096000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600" b="1" kern="100" dirty="0">
                <a:solidFill>
                  <a:srgbClr val="0070C0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 Image Forensics &amp; ELA: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Reference: Krawetz, N. (2007). A Picture's Worth. Digital Image Analysis and Forensics. Black Hat Briefings.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7"/>
              </a:rPr>
              <a:t>LINK</a:t>
            </a:r>
            <a:endParaRPr lang="en-IN" sz="105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FBB560-FDF3-0D95-76D5-453740E6C52C}"/>
              </a:ext>
            </a:extLst>
          </p:cNvPr>
          <p:cNvSpPr txBox="1"/>
          <p:nvPr/>
        </p:nvSpPr>
        <p:spPr>
          <a:xfrm>
            <a:off x="5663112" y="2717306"/>
            <a:ext cx="609600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600" b="1" kern="100" dirty="0">
                <a:solidFill>
                  <a:srgbClr val="0070C0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DeepFace Framework Implementation: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Reference: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Serengil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S. I., &amp;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Ozpinar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A. (2021).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HyperExtended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LightFace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 Facial Attribute Analysis Framework. International Conference on Engineering and Telecommunication (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1–4.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8"/>
              </a:rPr>
              <a:t>LINK</a:t>
            </a:r>
            <a:endParaRPr lang="en-IN" sz="105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0FACD1-3B93-5FD9-14AF-EDBCCFC519EF}"/>
              </a:ext>
            </a:extLst>
          </p:cNvPr>
          <p:cNvSpPr txBox="1"/>
          <p:nvPr/>
        </p:nvSpPr>
        <p:spPr>
          <a:xfrm>
            <a:off x="5655706" y="4793603"/>
            <a:ext cx="609600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600" b="1" kern="100" dirty="0">
                <a:solidFill>
                  <a:srgbClr val="0070C0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Smart Engines MIDV-500 Dataset: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Reference: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Arlazarov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V. V., Bulatov, K., Chernov, T., &amp; </a:t>
            </a:r>
            <a:r>
              <a:rPr lang="en-IN" sz="14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Arlazarov</a:t>
            </a: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V. L. (2019). MIDV-500: A Dataset for Identity Documents Analysis and Recognition on Mobile Devices in Video Stream. Computer Optics, 43(5), 818–824.</a:t>
            </a:r>
            <a:endParaRPr lang="en-IN" sz="1400" kern="100" dirty="0">
              <a:latin typeface="Aptos Display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9"/>
              </a:rPr>
              <a:t>LINK</a:t>
            </a:r>
            <a:endParaRPr lang="en-IN" sz="105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8A59E86-9DC8-BB74-C27E-CD7E02D8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4644" y="6423817"/>
            <a:ext cx="284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E399A6-5C65-0346-95C1-FDB1CFAD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2603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@SIH Idea submission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414A656-E50B-7D33-7383-F1CF3216874E}"/>
              </a:ext>
            </a:extLst>
          </p:cNvPr>
          <p:cNvCxnSpPr/>
          <p:nvPr/>
        </p:nvCxnSpPr>
        <p:spPr>
          <a:xfrm>
            <a:off x="0" y="2491530"/>
            <a:ext cx="124157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98D05E5-74F1-6EFC-0EB1-B5781DB6D943}"/>
              </a:ext>
            </a:extLst>
          </p:cNvPr>
          <p:cNvCxnSpPr>
            <a:cxnSpLocks/>
          </p:cNvCxnSpPr>
          <p:nvPr/>
        </p:nvCxnSpPr>
        <p:spPr>
          <a:xfrm>
            <a:off x="5584586" y="1014984"/>
            <a:ext cx="0" cy="533596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132D192-1433-D6E6-462C-89C5CACCFF5A}"/>
              </a:ext>
            </a:extLst>
          </p:cNvPr>
          <p:cNvCxnSpPr/>
          <p:nvPr/>
        </p:nvCxnSpPr>
        <p:spPr>
          <a:xfrm>
            <a:off x="0" y="4546833"/>
            <a:ext cx="1219199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9637</TotalTime>
  <Words>1050</Words>
  <Application>Microsoft Office PowerPoint</Application>
  <PresentationFormat>Widescreen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Aptos Display</vt:lpstr>
      <vt:lpstr>Arial</vt:lpstr>
      <vt:lpstr>Calibri</vt:lpstr>
      <vt:lpstr>Cascadia Mono SemiBold</vt:lpstr>
      <vt:lpstr>Garamond</vt:lpstr>
      <vt:lpstr>Google Sans Text</vt:lpstr>
      <vt:lpstr>Times New Roman</vt:lpstr>
      <vt:lpstr>TradeGothic</vt:lpstr>
      <vt:lpstr>Wingdings</vt:lpstr>
      <vt:lpstr>Office Theme</vt:lpstr>
      <vt:lpstr>SMART INDIA HACKATHON 2026</vt:lpstr>
      <vt:lpstr>IDEA TITLE : SENTINELID</vt:lpstr>
      <vt:lpstr>TECHNICAL APPROACH</vt:lpstr>
      <vt:lpstr>FEASIBILITY AND VIABILITY</vt:lpstr>
      <vt:lpstr>IMPACT AT A GLANCE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Manish R</cp:lastModifiedBy>
  <cp:revision>154</cp:revision>
  <dcterms:created xsi:type="dcterms:W3CDTF">2013-12-12T18:46:50Z</dcterms:created>
  <dcterms:modified xsi:type="dcterms:W3CDTF">2026-09-06T18:50:43Z</dcterms:modified>
  <cp:category/>
</cp:coreProperties>
</file>